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5f7602252d4445" /><Relationship Type="http://schemas.openxmlformats.org/officeDocument/2006/relationships/extended-properties" Target="/docProps/app.xml" Id="R8799671a0b8a4ac5" /><Relationship Type="http://schemas.openxmlformats.org/officeDocument/2006/relationships/officeDocument" Target="/ppt/presentation.xml" Id="R2c2e2ad6cd134b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6a2e4251734a2e"/>
  </p:sldMasterIdLst>
  <p:notesMasterIdLst>
    <p:notesMasterId xmlns:r="http://schemas.openxmlformats.org/officeDocument/2006/relationships" r:id="R9d4b7588d85f47bb"/>
  </p:notesMasterIdLst>
  <p:sldIdLst>
    <p:sldId xmlns:r="http://schemas.openxmlformats.org/officeDocument/2006/relationships" id="256" r:id="Rbbd7943f6ce44658"/>
    <p:sldId xmlns:r="http://schemas.openxmlformats.org/officeDocument/2006/relationships" id="257" r:id="R2a62e650f7b944b4"/>
    <p:sldId xmlns:r="http://schemas.openxmlformats.org/officeDocument/2006/relationships" id="258" r:id="R19e51a2801534fba"/>
    <p:sldId xmlns:r="http://schemas.openxmlformats.org/officeDocument/2006/relationships" id="259" r:id="R98869f0ca9504174"/>
    <p:sldId xmlns:r="http://schemas.openxmlformats.org/officeDocument/2006/relationships" id="260" r:id="Rf937f5170f7944b9"/>
    <p:sldId xmlns:r="http://schemas.openxmlformats.org/officeDocument/2006/relationships" id="261" r:id="R6eae36b71ace4536"/>
    <p:sldId xmlns:r="http://schemas.openxmlformats.org/officeDocument/2006/relationships" id="262" r:id="R1a78d0b18cde42e5"/>
    <p:sldId xmlns:r="http://schemas.openxmlformats.org/officeDocument/2006/relationships" id="263" r:id="Rfd9c1f43abe44897"/>
    <p:sldId xmlns:r="http://schemas.openxmlformats.org/officeDocument/2006/relationships" id="264" r:id="Rf7e7ce2707b749f1"/>
    <p:sldId xmlns:r="http://schemas.openxmlformats.org/officeDocument/2006/relationships" id="265" r:id="R84bfc6caded048e2"/>
    <p:sldId xmlns:r="http://schemas.openxmlformats.org/officeDocument/2006/relationships" id="266" r:id="R5194d492debe4129"/>
    <p:sldId xmlns:r="http://schemas.openxmlformats.org/officeDocument/2006/relationships" id="267" r:id="R195bd57cb58f4331"/>
    <p:sldId xmlns:r="http://schemas.openxmlformats.org/officeDocument/2006/relationships" id="268" r:id="R83015a3227694940"/>
    <p:sldId xmlns:r="http://schemas.openxmlformats.org/officeDocument/2006/relationships" id="269" r:id="R2e6412519b9f4b20"/>
    <p:sldId xmlns:r="http://schemas.openxmlformats.org/officeDocument/2006/relationships" id="270" r:id="Rceffd3b20247439a"/>
    <p:sldId xmlns:r="http://schemas.openxmlformats.org/officeDocument/2006/relationships" id="271" r:id="R4ce73e0e78ad4932"/>
    <p:sldId xmlns:r="http://schemas.openxmlformats.org/officeDocument/2006/relationships" id="272" r:id="R9fd76b37150945a0"/>
    <p:sldId xmlns:r="http://schemas.openxmlformats.org/officeDocument/2006/relationships" id="273" r:id="R58fd515aa55a4f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2c08492ebf499a" /><Relationship Type="http://schemas.openxmlformats.org/officeDocument/2006/relationships/slideMaster" Target="/ppt/slideMasters/slideMaster1.xml" Id="Rab6a2e4251734a2e" /><Relationship Type="http://schemas.openxmlformats.org/officeDocument/2006/relationships/notesMaster" Target="/ppt/notesMasters/notesMaster1.xml" Id="R9d4b7588d85f47bb" /><Relationship Type="http://schemas.openxmlformats.org/officeDocument/2006/relationships/presProps" Target="/ppt/presProps.xml" Id="Rfd6d5af39dda475a" /><Relationship Type="http://schemas.openxmlformats.org/officeDocument/2006/relationships/tableStyles" Target="/ppt/tableStyles.xml" Id="R0db79a3ddbbc4346" /><Relationship Type="http://schemas.openxmlformats.org/officeDocument/2006/relationships/slide" Target="/ppt/slides/slide1.xml" Id="Rbbd7943f6ce44658" /><Relationship Type="http://schemas.openxmlformats.org/officeDocument/2006/relationships/slide" Target="/ppt/slides/slide2.xml" Id="R2a62e650f7b944b4" /><Relationship Type="http://schemas.openxmlformats.org/officeDocument/2006/relationships/slide" Target="/ppt/slides/slide3.xml" Id="R19e51a2801534fba" /><Relationship Type="http://schemas.openxmlformats.org/officeDocument/2006/relationships/slide" Target="/ppt/slides/slide4.xml" Id="R98869f0ca9504174" /><Relationship Type="http://schemas.openxmlformats.org/officeDocument/2006/relationships/slide" Target="/ppt/slides/slide5.xml" Id="Rf937f5170f7944b9" /><Relationship Type="http://schemas.openxmlformats.org/officeDocument/2006/relationships/slide" Target="/ppt/slides/slide6.xml" Id="R6eae36b71ace4536" /><Relationship Type="http://schemas.openxmlformats.org/officeDocument/2006/relationships/slide" Target="/ppt/slides/slide7.xml" Id="R1a78d0b18cde42e5" /><Relationship Type="http://schemas.openxmlformats.org/officeDocument/2006/relationships/slide" Target="/ppt/slides/slide8.xml" Id="Rfd9c1f43abe44897" /><Relationship Type="http://schemas.openxmlformats.org/officeDocument/2006/relationships/slide" Target="/ppt/slides/slide9.xml" Id="Rf7e7ce2707b749f1" /><Relationship Type="http://schemas.openxmlformats.org/officeDocument/2006/relationships/slide" Target="/ppt/slides/slide10.xml" Id="R84bfc6caded048e2" /><Relationship Type="http://schemas.openxmlformats.org/officeDocument/2006/relationships/slide" Target="/ppt/slides/slide11.xml" Id="R5194d492debe4129" /><Relationship Type="http://schemas.openxmlformats.org/officeDocument/2006/relationships/slide" Target="/ppt/slides/slide12.xml" Id="R195bd57cb58f4331" /><Relationship Type="http://schemas.openxmlformats.org/officeDocument/2006/relationships/slide" Target="/ppt/slides/slide13.xml" Id="R83015a3227694940" /><Relationship Type="http://schemas.openxmlformats.org/officeDocument/2006/relationships/slide" Target="/ppt/slides/slide14.xml" Id="R2e6412519b9f4b20" /><Relationship Type="http://schemas.openxmlformats.org/officeDocument/2006/relationships/slide" Target="/ppt/slides/slide15.xml" Id="Rceffd3b20247439a" /><Relationship Type="http://schemas.openxmlformats.org/officeDocument/2006/relationships/slide" Target="/ppt/slides/slide16.xml" Id="R4ce73e0e78ad4932" /><Relationship Type="http://schemas.openxmlformats.org/officeDocument/2006/relationships/slide" Target="/ppt/slides/slide17.xml" Id="R9fd76b37150945a0" /><Relationship Type="http://schemas.openxmlformats.org/officeDocument/2006/relationships/slide" Target="/ppt/slides/slide18.xml" Id="R58fd515aa55a4f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8d8854fb214e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427c5cac764e9e" /><Relationship Type="http://schemas.openxmlformats.org/officeDocument/2006/relationships/notesMaster" Target="/ppt/notesMasters/notesMaster1.xml" Id="R6ade67f95e3043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efc156d4454584" /><Relationship Type="http://schemas.openxmlformats.org/officeDocument/2006/relationships/notesMaster" Target="/ppt/notesMasters/notesMaster1.xml" Id="R7904bd06df7c43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2e007105b5491b" /><Relationship Type="http://schemas.openxmlformats.org/officeDocument/2006/relationships/notesMaster" Target="/ppt/notesMasters/notesMaster1.xml" Id="R9edec6c2d36844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c634a3d4d54ef8" /><Relationship Type="http://schemas.openxmlformats.org/officeDocument/2006/relationships/notesMaster" Target="/ppt/notesMasters/notesMaster1.xml" Id="R587d0f4c1d1c44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888aa73c2e45bd" /><Relationship Type="http://schemas.openxmlformats.org/officeDocument/2006/relationships/notesMaster" Target="/ppt/notesMasters/notesMaster1.xml" Id="Reea8459cd83d49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c40083af5a4d6d" /><Relationship Type="http://schemas.openxmlformats.org/officeDocument/2006/relationships/notesMaster" Target="/ppt/notesMasters/notesMaster1.xml" Id="Rc281a9697c5248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a08af4e2d64c54" /><Relationship Type="http://schemas.openxmlformats.org/officeDocument/2006/relationships/notesMaster" Target="/ppt/notesMasters/notesMaster1.xml" Id="R59456ccc5eb745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5e5aa4ab204356" /><Relationship Type="http://schemas.openxmlformats.org/officeDocument/2006/relationships/notesMaster" Target="/ppt/notesMasters/notesMaster1.xml" Id="Rfd492c76792243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391e69f2f84b86" /><Relationship Type="http://schemas.openxmlformats.org/officeDocument/2006/relationships/notesMaster" Target="/ppt/notesMasters/notesMaster1.xml" Id="Rff92b7608aba48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0c59599b43428c" /><Relationship Type="http://schemas.openxmlformats.org/officeDocument/2006/relationships/notesMaster" Target="/ppt/notesMasters/notesMaster1.xml" Id="R20e9f1c449b04b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8710b3e1a34d51" /><Relationship Type="http://schemas.openxmlformats.org/officeDocument/2006/relationships/notesMaster" Target="/ppt/notesMasters/notesMaster1.xml" Id="R7864aa07043e4b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15891d3864a46fb" /><Relationship Type="http://schemas.openxmlformats.org/officeDocument/2006/relationships/notesMaster" Target="/ppt/notesMasters/notesMaster1.xml" Id="R769c01b4c19449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2d42cc7dd4452e" /><Relationship Type="http://schemas.openxmlformats.org/officeDocument/2006/relationships/notesMaster" Target="/ppt/notesMasters/notesMaster1.xml" Id="R61ceb2f6d616467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937249b3a8474e" /><Relationship Type="http://schemas.openxmlformats.org/officeDocument/2006/relationships/notesMaster" Target="/ppt/notesMasters/notesMaster1.xml" Id="R675f6fea1c684c8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cbc786c9d14616" /><Relationship Type="http://schemas.openxmlformats.org/officeDocument/2006/relationships/notesMaster" Target="/ppt/notesMasters/notesMaster1.xml" Id="Rf7474df253e2418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bc1b0478fa54bf7" /><Relationship Type="http://schemas.openxmlformats.org/officeDocument/2006/relationships/notesMaster" Target="/ppt/notesMasters/notesMaster1.xml" Id="Rb58f5c630aae442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61c57c8c7074980" /><Relationship Type="http://schemas.openxmlformats.org/officeDocument/2006/relationships/notesMaster" Target="/ppt/notesMasters/notesMaster1.xml" Id="R52dd299bd056466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0f393b603784002" /><Relationship Type="http://schemas.openxmlformats.org/officeDocument/2006/relationships/notesMaster" Target="/ppt/notesMasters/notesMaster1.xml" Id="Ref8513e416604c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e91cd68de048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2f6d76e59642e1" /><Relationship Type="http://schemas.openxmlformats.org/officeDocument/2006/relationships/slideLayout" Target="/ppt/slideLayouts/slideLayout1.xml" Id="Rb8b59fbf229447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b59fbf229447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52216ee7840a7" /><Relationship Type="http://schemas.openxmlformats.org/officeDocument/2006/relationships/notesSlide" Target="/ppt/notesSlides/notesSlide1.xml" Id="Rf8a439f6a06946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568b3f64b40b5" /><Relationship Type="http://schemas.openxmlformats.org/officeDocument/2006/relationships/notesSlide" Target="/ppt/notesSlides/notesSlide2.xml" Id="R7dcf5c2a456f41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569061fba41d8" /><Relationship Type="http://schemas.openxmlformats.org/officeDocument/2006/relationships/notesSlide" Target="/ppt/notesSlides/notesSlide3.xml" Id="R673c2c67285f4e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927466c944b0c" /><Relationship Type="http://schemas.openxmlformats.org/officeDocument/2006/relationships/notesSlide" Target="/ppt/notesSlides/notesSlide4.xml" Id="R0b1e70354d084e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7438b521f4930" /><Relationship Type="http://schemas.openxmlformats.org/officeDocument/2006/relationships/notesSlide" Target="/ppt/notesSlides/notesSlide5.xml" Id="Rccaa8e6ad3bb43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c37892b2849c0" /><Relationship Type="http://schemas.openxmlformats.org/officeDocument/2006/relationships/chart" Target="/ppt/slides/charts/chart1.xml" Id="R10b9906676be4c92" /><Relationship Type="http://schemas.openxmlformats.org/officeDocument/2006/relationships/notesSlide" Target="/ppt/notesSlides/notesSlide6.xml" Id="R4eb2d9667aac4b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8f7eb08c7413f" /><Relationship Type="http://schemas.openxmlformats.org/officeDocument/2006/relationships/chart" Target="/ppt/slides/charts/chart2.xml" Id="R44aafb5ad44d4000" /><Relationship Type="http://schemas.openxmlformats.org/officeDocument/2006/relationships/chart" Target="/ppt/slides/charts/chart3.xml" Id="R14e41d9262c847d8" /><Relationship Type="http://schemas.openxmlformats.org/officeDocument/2006/relationships/notesSlide" Target="/ppt/notesSlides/notesSlide7.xml" Id="R040206e20b3e40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05f5eb7db4dc1" /><Relationship Type="http://schemas.openxmlformats.org/officeDocument/2006/relationships/chart" Target="/ppt/slides/charts/chart4.xml" Id="R8f548ee8c56b4fe1" /><Relationship Type="http://schemas.openxmlformats.org/officeDocument/2006/relationships/chart" Target="/ppt/slides/charts/chart5.xml" Id="R1ceef3bc4f0e4be2" /><Relationship Type="http://schemas.openxmlformats.org/officeDocument/2006/relationships/notesSlide" Target="/ppt/notesSlides/notesSlide8.xml" Id="Rf436977132fe46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de67c7f6640ec" /><Relationship Type="http://schemas.openxmlformats.org/officeDocument/2006/relationships/chart" Target="/ppt/slides/charts/chart6.xml" Id="Ra53421950105469e" /><Relationship Type="http://schemas.openxmlformats.org/officeDocument/2006/relationships/notesSlide" Target="/ppt/notesSlides/notesSlide9.xml" Id="R9080a191f1b341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6d1dd0d9c408c" /><Relationship Type="http://schemas.openxmlformats.org/officeDocument/2006/relationships/notesSlide" Target="/ppt/notesSlides/notesSlide10.xml" Id="R83b19ea2deb24f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96fa84a8b43ec" /><Relationship Type="http://schemas.openxmlformats.org/officeDocument/2006/relationships/notesSlide" Target="/ppt/notesSlides/notesSlide11.xml" Id="R1d963a26c33b4c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bc436cdb94b89" /><Relationship Type="http://schemas.openxmlformats.org/officeDocument/2006/relationships/notesSlide" Target="/ppt/notesSlides/notesSlide12.xml" Id="Rf789e787815c4d6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83e73b5144d3a" /><Relationship Type="http://schemas.openxmlformats.org/officeDocument/2006/relationships/notesSlide" Target="/ppt/notesSlides/notesSlide13.xml" Id="R29f128b0036a42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9ca245c294713" /><Relationship Type="http://schemas.openxmlformats.org/officeDocument/2006/relationships/notesSlide" Target="/ppt/notesSlides/notesSlide14.xml" Id="R79788802d18a4c6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f19d1475444a7" /><Relationship Type="http://schemas.openxmlformats.org/officeDocument/2006/relationships/notesSlide" Target="/ppt/notesSlides/notesSlide15.xml" Id="R4381221c04b1407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e19838a5e43a0" /><Relationship Type="http://schemas.openxmlformats.org/officeDocument/2006/relationships/notesSlide" Target="/ppt/notesSlides/notesSlide16.xml" Id="R13b7d3dca355443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21e40c3274bc5" /><Relationship Type="http://schemas.openxmlformats.org/officeDocument/2006/relationships/notesSlide" Target="/ppt/notesSlides/notesSlide17.xml" Id="R43ff74a37db64b8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b2e4f898f44f9" /><Relationship Type="http://schemas.openxmlformats.org/officeDocument/2006/relationships/notesSlide" Target="/ppt/notesSlides/notesSlide18.xml" Id="Rda63685b8ad94a38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Índices anuais recalculados</a:t>
            </a:r>
          </a:p>
        </c:rich>
      </c:tx>
      <c:overlay val="0"/>
    </c:title>
    <c:plotArea>
      <c:lineChart>
        <c:grouping val="standard"/>
        <c:ser>
          <c:idx val="0"/>
          <c:order val="0"/>
          <c:tx>
            <c:v>Exportações</c:v>
          </c:tx>
          <c:spPr>
            <a:solidFill xmlns:a="http://schemas.openxmlformats.org/drawingml/2006/main">
              <a:srgbClr val="075D3B"/>
            </a:solidFill>
          </c:spPr>
          <c:marker>
            <c:symbol val="none"/>
          </c:marker>
          <c:cat>
            <c:strLit>
              <c:ptCount val="4"/>
              <c:pt idx="0">
                <c:v>2022</c:v>
              </c:pt>
              <c:pt idx="1">
                <c:v>2023</c:v>
              </c:pt>
              <c:pt idx="2">
                <c:v>2024</c:v>
              </c:pt>
              <c:pt idx="3">
                <c:v>2025 Jan–Set</c:v>
              </c:pt>
            </c:strLit>
          </c:cat>
          <c:val>
            <c:numLit>
              <c:formatCode>0.0</c:formatCode>
              <c:ptCount val="4"/>
              <c:pt idx="0">
                <c:v>100.00000000000001</c:v>
              </c:pt>
              <c:pt idx="1">
                <c:v>95.0274039061299</c:v>
              </c:pt>
              <c:pt idx="2">
                <c:v>110.7732245539857</c:v>
              </c:pt>
              <c:pt idx="3">
                <c:v>88.1686919454075</c:v>
              </c:pt>
            </c:numLit>
          </c:val>
        </c:ser>
        <c:ser>
          <c:idx val="1"/>
          <c:order val="1"/>
          <c:tx>
            <c:v>Importações</c:v>
          </c:tx>
          <c:spPr>
            <a:solidFill xmlns:a="http://schemas.openxmlformats.org/drawingml/2006/main">
              <a:srgbClr val="E0A514"/>
            </a:solidFill>
          </c:spPr>
          <c:marker>
            <c:symbol val="none"/>
          </c:marker>
          <c:cat>
            <c:strLit>
              <c:ptCount val="4"/>
              <c:pt idx="0">
                <c:v>2022</c:v>
              </c:pt>
              <c:pt idx="1">
                <c:v>2023</c:v>
              </c:pt>
              <c:pt idx="2">
                <c:v>2024</c:v>
              </c:pt>
              <c:pt idx="3">
                <c:v>2025 Jan–Set</c:v>
              </c:pt>
            </c:strLit>
          </c:cat>
          <c:val>
            <c:numLit>
              <c:formatCode>0.0</c:formatCode>
              <c:ptCount val="4"/>
              <c:pt idx="0">
                <c:v>100</c:v>
              </c:pt>
              <c:pt idx="1">
                <c:v>88.95958556705207</c:v>
              </c:pt>
              <c:pt idx="2">
                <c:v>82.81391655725996</c:v>
              </c:pt>
              <c:pt idx="3">
                <c:v>80.0292683254542</c:v>
              </c:pt>
            </c:numLit>
          </c:val>
        </c:ser>
        <c:ser>
          <c:idx val="2"/>
          <c:order val="2"/>
          <c:tx>
            <c:v>Global</c:v>
          </c:tx>
          <c:spPr>
            <a:solidFill xmlns:a="http://schemas.openxmlformats.org/drawingml/2006/main">
              <a:srgbClr val="47796B"/>
            </a:solidFill>
          </c:spPr>
          <c:marker>
            <c:symbol val="none"/>
          </c:marker>
          <c:cat>
            <c:strLit>
              <c:ptCount val="4"/>
              <c:pt idx="0">
                <c:v>2022</c:v>
              </c:pt>
              <c:pt idx="1">
                <c:v>2023</c:v>
              </c:pt>
              <c:pt idx="2">
                <c:v>2024</c:v>
              </c:pt>
              <c:pt idx="3">
                <c:v>2025 Jan–Set</c:v>
              </c:pt>
            </c:strLit>
          </c:cat>
          <c:val>
            <c:numLit>
              <c:formatCode>0.0</c:formatCode>
              <c:ptCount val="4"/>
              <c:pt idx="0">
                <c:v>100</c:v>
              </c:pt>
              <c:pt idx="1">
                <c:v>91.99332782221767</c:v>
              </c:pt>
              <c:pt idx="2">
                <c:v>96.7928014471703</c:v>
              </c:pt>
              <c:pt idx="3">
                <c:v>84.0987562350573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2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7E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2022</a:t>
            </a:r>
          </a:p>
        </c:rich>
      </c:tx>
      <c:overlay val="0"/>
    </c:title>
    <c:plotArea>
      <c:lineChart>
        <c:grouping val="standard"/>
        <c:ser>
          <c:idx val="0"/>
          <c:order val="0"/>
          <c:tx>
            <c:v>Exportações</c:v>
          </c:tx>
          <c:spPr>
            <a:solidFill xmlns:a="http://schemas.openxmlformats.org/drawingml/2006/main">
              <a:srgbClr val="075D3B"/>
            </a:solidFill>
          </c:spPr>
          <c:marker>
            <c:symbol val="none"/>
          </c:marker>
          <c:cat>
            <c:numLit>
              <c:formatCode>General</c:formatCode>
              <c:ptCount val="12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07</c:v>
              </c:pt>
              <c:pt idx="7">
                <c:v>08</c:v>
              </c:pt>
              <c:pt idx="8">
                <c:v>09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numLit>
          </c:cat>
          <c:val>
            <c:numLit>
              <c:formatCode>0.0</c:formatCode>
              <c:ptCount val="12"/>
              <c:pt idx="0">
                <c:v>100.38178292125163</c:v>
              </c:pt>
              <c:pt idx="1">
                <c:v>102.22264486331439</c:v>
              </c:pt>
              <c:pt idx="2">
                <c:v>100.03888088223295</c:v>
              </c:pt>
              <c:pt idx="3">
                <c:v>103.3904412423117</c:v>
              </c:pt>
              <c:pt idx="4">
                <c:v>97.99997749607489</c:v>
              </c:pt>
              <c:pt idx="5">
                <c:v>101.02865614591255</c:v>
              </c:pt>
              <c:pt idx="6">
                <c:v>101.84302849043645</c:v>
              </c:pt>
              <c:pt idx="7">
                <c:v>97.83626319711449</c:v>
              </c:pt>
              <c:pt idx="8">
                <c:v>102.93514056521924</c:v>
              </c:pt>
              <c:pt idx="9">
                <c:v>100.39921823843439</c:v>
              </c:pt>
              <c:pt idx="10">
                <c:v>101.11054458210303</c:v>
              </c:pt>
              <c:pt idx="11">
                <c:v>99.58710270968476</c:v>
              </c:pt>
            </c:numLit>
          </c:val>
        </c:ser>
        <c:ser>
          <c:idx val="1"/>
          <c:order val="1"/>
          <c:tx>
            <c:v>Importações</c:v>
          </c:tx>
          <c:spPr>
            <a:solidFill xmlns:a="http://schemas.openxmlformats.org/drawingml/2006/main">
              <a:srgbClr val="E0A514"/>
            </a:solidFill>
          </c:spPr>
          <c:marker>
            <c:symbol val="none"/>
          </c:marker>
          <c:cat>
            <c:numLit>
              <c:formatCode>General</c:formatCode>
              <c:ptCount val="12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07</c:v>
              </c:pt>
              <c:pt idx="7">
                <c:v>08</c:v>
              </c:pt>
              <c:pt idx="8">
                <c:v>09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numLit>
          </c:cat>
          <c:val>
            <c:numLit>
              <c:formatCode>0.0</c:formatCode>
              <c:ptCount val="12"/>
              <c:pt idx="0">
                <c:v>104.81314447823327</c:v>
              </c:pt>
              <c:pt idx="1">
                <c:v>98.08088898106736</c:v>
              </c:pt>
              <c:pt idx="2">
                <c:v>100.62873187783707</c:v>
              </c:pt>
              <c:pt idx="3">
                <c:v>96.39131770257558</c:v>
              </c:pt>
              <c:pt idx="4">
                <c:v>98.05596336432419</c:v>
              </c:pt>
              <c:pt idx="5">
                <c:v>103.72245248279464</c:v>
              </c:pt>
              <c:pt idx="6">
                <c:v>105.42852559666737</c:v>
              </c:pt>
              <c:pt idx="7">
                <c:v>103.88070013541409</c:v>
              </c:pt>
              <c:pt idx="8">
                <c:v>108.72177235597844</c:v>
              </c:pt>
              <c:pt idx="9">
                <c:v>101.63492234464412</c:v>
              </c:pt>
              <c:pt idx="10">
                <c:v>100.5891392364571</c:v>
              </c:pt>
              <c:pt idx="11">
                <c:v>97.44882427825745</c:v>
              </c:pt>
            </c:numLit>
          </c:val>
        </c:ser>
        <c:ser>
          <c:idx val="2"/>
          <c:order val="2"/>
          <c:tx>
            <c:v>Global</c:v>
          </c:tx>
          <c:spPr>
            <a:solidFill xmlns:a="http://schemas.openxmlformats.org/drawingml/2006/main">
              <a:srgbClr val="47796B"/>
            </a:solidFill>
          </c:spPr>
          <c:marker>
            <c:symbol val="none"/>
          </c:marker>
          <c:cat>
            <c:numLit>
              <c:formatCode>General</c:formatCode>
              <c:ptCount val="12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07</c:v>
              </c:pt>
              <c:pt idx="7">
                <c:v>08</c:v>
              </c:pt>
              <c:pt idx="8">
                <c:v>09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numLit>
          </c:cat>
          <c:val>
            <c:numLit>
              <c:formatCode>0.0</c:formatCode>
              <c:ptCount val="12"/>
              <c:pt idx="0">
                <c:v>102.59758559823973</c:v>
              </c:pt>
              <c:pt idx="1">
                <c:v>100.15165299020595</c:v>
              </c:pt>
              <c:pt idx="2">
                <c:v>100.33382260573654</c:v>
              </c:pt>
              <c:pt idx="3">
                <c:v>99.8906869396</c:v>
              </c:pt>
              <c:pt idx="4">
                <c:v>98.02797197026644</c:v>
              </c:pt>
              <c:pt idx="5">
                <c:v>102.37562841567014</c:v>
              </c:pt>
              <c:pt idx="6">
                <c:v>103.63587567389467</c:v>
              </c:pt>
              <c:pt idx="7">
                <c:v>100.85864793745887</c:v>
              </c:pt>
              <c:pt idx="8">
                <c:v>105.82861564005431</c:v>
              </c:pt>
              <c:pt idx="9">
                <c:v>101.01710428345612</c:v>
              </c:pt>
              <c:pt idx="10">
                <c:v>100.84982756639081</c:v>
              </c:pt>
              <c:pt idx="11">
                <c:v>98.51790467391677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2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7E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2023</a:t>
            </a:r>
          </a:p>
        </c:rich>
      </c:tx>
      <c:overlay val="0"/>
    </c:title>
    <c:plotArea>
      <c:lineChart>
        <c:grouping val="standard"/>
        <c:ser>
          <c:idx val="0"/>
          <c:order val="0"/>
          <c:tx>
            <c:v>Exportações</c:v>
          </c:tx>
          <c:spPr>
            <a:solidFill xmlns:a="http://schemas.openxmlformats.org/drawingml/2006/main">
              <a:srgbClr val="075D3B"/>
            </a:solidFill>
          </c:spPr>
          <c:marker>
            <c:symbol val="none"/>
          </c:marker>
          <c:cat>
            <c:numLit>
              <c:formatCode>General</c:formatCode>
              <c:ptCount val="12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07</c:v>
              </c:pt>
              <c:pt idx="7">
                <c:v>08</c:v>
              </c:pt>
              <c:pt idx="8">
                <c:v>09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numLit>
          </c:cat>
          <c:val>
            <c:numLit>
              <c:formatCode>0.0</c:formatCode>
              <c:ptCount val="12"/>
              <c:pt idx="0">
                <c:v>89.05347775509465</c:v>
              </c:pt>
              <c:pt idx="1">
                <c:v>80.51449990032057</c:v>
              </c:pt>
              <c:pt idx="2">
                <c:v>121.98608312309807</c:v>
              </c:pt>
              <c:pt idx="3">
                <c:v>95.6546437490313</c:v>
              </c:pt>
              <c:pt idx="4">
                <c:v>90.90045161993073</c:v>
              </c:pt>
              <c:pt idx="5">
                <c:v>114.50185077338193</c:v>
              </c:pt>
              <c:pt idx="6">
                <c:v>110.76873050024633</c:v>
              </c:pt>
              <c:pt idx="7">
                <c:v>87.39088909713628</c:v>
              </c:pt>
              <c:pt idx="8">
                <c:v>96.97510082277728</c:v>
              </c:pt>
              <c:pt idx="9">
                <c:v>112.91121090487616</c:v>
              </c:pt>
              <c:pt idx="10">
                <c:v>126.65057565080502</c:v>
              </c:pt>
              <c:pt idx="11">
                <c:v>103.20240188891442</c:v>
              </c:pt>
            </c:numLit>
          </c:val>
        </c:ser>
        <c:ser>
          <c:idx val="1"/>
          <c:order val="1"/>
          <c:tx>
            <c:v>Importações</c:v>
          </c:tx>
          <c:spPr>
            <a:solidFill xmlns:a="http://schemas.openxmlformats.org/drawingml/2006/main">
              <a:srgbClr val="E0A514"/>
            </a:solidFill>
          </c:spPr>
          <c:marker>
            <c:symbol val="none"/>
          </c:marker>
          <c:cat>
            <c:numLit>
              <c:formatCode>General</c:formatCode>
              <c:ptCount val="12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07</c:v>
              </c:pt>
              <c:pt idx="7">
                <c:v>08</c:v>
              </c:pt>
              <c:pt idx="8">
                <c:v>09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numLit>
          </c:cat>
          <c:val>
            <c:numLit>
              <c:formatCode>0.0</c:formatCode>
              <c:ptCount val="12"/>
              <c:pt idx="0">
                <c:v>93.80931203588153</c:v>
              </c:pt>
              <c:pt idx="1">
                <c:v>99.21035053861816</c:v>
              </c:pt>
              <c:pt idx="2">
                <c:v>96.66985085736027</c:v>
              </c:pt>
              <c:pt idx="3">
                <c:v>92.14963898009712</c:v>
              </c:pt>
              <c:pt idx="4">
                <c:v>92.7620339419125</c:v>
              </c:pt>
              <c:pt idx="5">
                <c:v>88.03098307753326</c:v>
              </c:pt>
              <c:pt idx="6">
                <c:v>88.69449707487567</c:v>
              </c:pt>
              <c:pt idx="7">
                <c:v>106.18979658195018</c:v>
              </c:pt>
              <c:pt idx="8">
                <c:v>96.60403277778126</c:v>
              </c:pt>
              <c:pt idx="9">
                <c:v>87.22904480288176</c:v>
              </c:pt>
              <c:pt idx="10">
                <c:v>92.6537313753384</c:v>
              </c:pt>
              <c:pt idx="11">
                <c:v>92.56260614647084</c:v>
              </c:pt>
            </c:numLit>
          </c:val>
        </c:ser>
        <c:ser>
          <c:idx val="2"/>
          <c:order val="2"/>
          <c:tx>
            <c:v>Global</c:v>
          </c:tx>
          <c:spPr>
            <a:solidFill xmlns:a="http://schemas.openxmlformats.org/drawingml/2006/main">
              <a:srgbClr val="47796B"/>
            </a:solidFill>
          </c:spPr>
          <c:marker>
            <c:symbol val="none"/>
          </c:marker>
          <c:cat>
            <c:numLit>
              <c:formatCode>General</c:formatCode>
              <c:ptCount val="12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07</c:v>
              </c:pt>
              <c:pt idx="7">
                <c:v>08</c:v>
              </c:pt>
              <c:pt idx="8">
                <c:v>09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numLit>
          </c:cat>
          <c:val>
            <c:numLit>
              <c:formatCode>0.0</c:formatCode>
              <c:ptCount val="12"/>
              <c:pt idx="0">
                <c:v>91.43152571962526</c:v>
              </c:pt>
              <c:pt idx="1">
                <c:v>89.86293950747518</c:v>
              </c:pt>
              <c:pt idx="2">
                <c:v>109.32727058786385</c:v>
              </c:pt>
              <c:pt idx="3">
                <c:v>93.90204494841564</c:v>
              </c:pt>
              <c:pt idx="4">
                <c:v>91.8312939895817</c:v>
              </c:pt>
              <c:pt idx="5">
                <c:v>101.2656887612236</c:v>
              </c:pt>
              <c:pt idx="6">
                <c:v>99.73100656654137</c:v>
              </c:pt>
              <c:pt idx="7">
                <c:v>96.79085996245081</c:v>
              </c:pt>
              <c:pt idx="8">
                <c:v>96.78955659288894</c:v>
              </c:pt>
              <c:pt idx="9">
                <c:v>100.06942138535584</c:v>
              </c:pt>
              <c:pt idx="10">
                <c:v>109.6512183232489</c:v>
              </c:pt>
              <c:pt idx="11">
                <c:v>97.88221133674219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2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7E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2024</a:t>
            </a:r>
          </a:p>
        </c:rich>
      </c:tx>
      <c:overlay val="0"/>
    </c:title>
    <c:plotArea>
      <c:lineChart>
        <c:grouping val="standard"/>
        <c:ser>
          <c:idx val="0"/>
          <c:order val="0"/>
          <c:tx>
            <c:v>Exportações</c:v>
          </c:tx>
          <c:spPr>
            <a:solidFill xmlns:a="http://schemas.openxmlformats.org/drawingml/2006/main">
              <a:srgbClr val="075D3B"/>
            </a:solidFill>
          </c:spPr>
          <c:marker>
            <c:symbol val="none"/>
          </c:marker>
          <c:cat>
            <c:numLit>
              <c:formatCode>General</c:formatCode>
              <c:ptCount val="12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07</c:v>
              </c:pt>
              <c:pt idx="7">
                <c:v>08</c:v>
              </c:pt>
              <c:pt idx="8">
                <c:v>09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numLit>
          </c:cat>
          <c:val>
            <c:numLit>
              <c:formatCode>0.0</c:formatCode>
              <c:ptCount val="12"/>
              <c:pt idx="0">
                <c:v>85.47400120064368</c:v>
              </c:pt>
              <c:pt idx="1">
                <c:v>115.66756582847272</c:v>
              </c:pt>
              <c:pt idx="2">
                <c:v>117.93958966367455</c:v>
              </c:pt>
              <c:pt idx="3">
                <c:v>124.01489149071145</c:v>
              </c:pt>
              <c:pt idx="4">
                <c:v>122.11778662224866</c:v>
              </c:pt>
              <c:pt idx="5">
                <c:v>128.30658119851148</c:v>
              </c:pt>
              <c:pt idx="6">
                <c:v>82.96366220450233</c:v>
              </c:pt>
              <c:pt idx="7">
                <c:v>112.66710577246913</c:v>
              </c:pt>
              <c:pt idx="8">
                <c:v>99.07009953267911</c:v>
              </c:pt>
              <c:pt idx="9">
                <c:v>118.84000909994126</c:v>
              </c:pt>
              <c:pt idx="10">
                <c:v>85.21534805013562</c:v>
              </c:pt>
              <c:pt idx="11">
                <c:v>101.56876041510023</c:v>
              </c:pt>
            </c:numLit>
          </c:val>
        </c:ser>
        <c:ser>
          <c:idx val="1"/>
          <c:order val="1"/>
          <c:tx>
            <c:v>Importações</c:v>
          </c:tx>
          <c:spPr>
            <a:solidFill xmlns:a="http://schemas.openxmlformats.org/drawingml/2006/main">
              <a:srgbClr val="E0A514"/>
            </a:solidFill>
          </c:spPr>
          <c:marker>
            <c:symbol val="none"/>
          </c:marker>
          <c:cat>
            <c:numLit>
              <c:formatCode>General</c:formatCode>
              <c:ptCount val="12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07</c:v>
              </c:pt>
              <c:pt idx="7">
                <c:v>08</c:v>
              </c:pt>
              <c:pt idx="8">
                <c:v>09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numLit>
          </c:cat>
          <c:val>
            <c:numLit>
              <c:formatCode>0.0</c:formatCode>
              <c:ptCount val="12"/>
              <c:pt idx="0">
                <c:v>85.07745550437771</c:v>
              </c:pt>
              <c:pt idx="1">
                <c:v>85.36177004313514</c:v>
              </c:pt>
              <c:pt idx="2">
                <c:v>83.10962772157579</c:v>
              </c:pt>
              <c:pt idx="3">
                <c:v>86.50227422900547</c:v>
              </c:pt>
              <c:pt idx="4">
                <c:v>99.25334796691729</c:v>
              </c:pt>
              <c:pt idx="5">
                <c:v>91.76823798140792</c:v>
              </c:pt>
              <c:pt idx="6">
                <c:v>89.83850711516877</c:v>
              </c:pt>
              <c:pt idx="7">
                <c:v>81.05729451522951</c:v>
              </c:pt>
              <c:pt idx="8">
                <c:v>91.69009971937814</c:v>
              </c:pt>
              <c:pt idx="9">
                <c:v>79.48521090519743</c:v>
              </c:pt>
              <c:pt idx="10">
                <c:v>88.52011872546227</c:v>
              </c:pt>
              <c:pt idx="11">
                <c:v>85.91307611889857</c:v>
              </c:pt>
            </c:numLit>
          </c:val>
        </c:ser>
        <c:ser>
          <c:idx val="2"/>
          <c:order val="2"/>
          <c:tx>
            <c:v>Global</c:v>
          </c:tx>
          <c:spPr>
            <a:solidFill xmlns:a="http://schemas.openxmlformats.org/drawingml/2006/main">
              <a:srgbClr val="47796B"/>
            </a:solidFill>
          </c:spPr>
          <c:marker>
            <c:symbol val="none"/>
          </c:marker>
          <c:cat>
            <c:numLit>
              <c:formatCode>General</c:formatCode>
              <c:ptCount val="12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07</c:v>
              </c:pt>
              <c:pt idx="7">
                <c:v>08</c:v>
              </c:pt>
              <c:pt idx="8">
                <c:v>09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numLit>
          </c:cat>
          <c:val>
            <c:numLit>
              <c:formatCode>0.0</c:formatCode>
              <c:ptCount val="12"/>
              <c:pt idx="0">
                <c:v>85.27571744427769</c:v>
              </c:pt>
              <c:pt idx="1">
                <c:v>100.51383427984572</c:v>
              </c:pt>
              <c:pt idx="2">
                <c:v>100.52365058528811</c:v>
              </c:pt>
              <c:pt idx="3">
                <c:v>105.25755095767347</c:v>
              </c:pt>
              <c:pt idx="4">
                <c:v>110.68493833649023</c:v>
              </c:pt>
              <c:pt idx="5">
                <c:v>110.03640448823784</c:v>
              </c:pt>
              <c:pt idx="6">
                <c:v>86.40127377400573</c:v>
              </c:pt>
              <c:pt idx="7">
                <c:v>96.8613306168559</c:v>
              </c:pt>
              <c:pt idx="8">
                <c:v>95.37989661598859</c:v>
              </c:pt>
              <c:pt idx="9">
                <c:v>99.16152742542036</c:v>
              </c:pt>
              <c:pt idx="10">
                <c:v>86.86782429588081</c:v>
              </c:pt>
              <c:pt idx="11">
                <c:v>93.74048760830343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2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7E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2025 (Jan–Set)</a:t>
            </a:r>
          </a:p>
        </c:rich>
      </c:tx>
      <c:overlay val="0"/>
    </c:title>
    <c:plotArea>
      <c:lineChart>
        <c:grouping val="standard"/>
        <c:ser>
          <c:idx val="0"/>
          <c:order val="0"/>
          <c:tx>
            <c:v>Exportações</c:v>
          </c:tx>
          <c:spPr>
            <a:solidFill xmlns:a="http://schemas.openxmlformats.org/drawingml/2006/main">
              <a:srgbClr val="075D3B"/>
            </a:solidFill>
          </c:spPr>
          <c:marker>
            <c:symbol val="none"/>
          </c:marker>
          <c:cat>
            <c:numLit>
              <c:formatCode>General</c:formatCode>
              <c:ptCount val="9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07</c:v>
              </c:pt>
              <c:pt idx="7">
                <c:v>08</c:v>
              </c:pt>
              <c:pt idx="8">
                <c:v>09</c:v>
              </c:pt>
            </c:numLit>
          </c:cat>
          <c:val>
            <c:numLit>
              <c:formatCode>0.0</c:formatCode>
              <c:ptCount val="9"/>
              <c:pt idx="0">
                <c:v>95.51726761040909</c:v>
              </c:pt>
              <c:pt idx="1">
                <c:v>87.46222541511591</c:v>
              </c:pt>
              <c:pt idx="2">
                <c:v>97.55386899471803</c:v>
              </c:pt>
              <c:pt idx="3">
                <c:v>99.98375352010552</c:v>
              </c:pt>
              <c:pt idx="4">
                <c:v>102.52936769233702</c:v>
              </c:pt>
              <c:pt idx="5">
                <c:v>78.51122475598368</c:v>
              </c:pt>
              <c:pt idx="6">
                <c:v>95.53127166303364</c:v>
              </c:pt>
              <c:pt idx="7">
                <c:v>85.24101872083538</c:v>
              </c:pt>
              <c:pt idx="8">
                <c:v>97.56100961857145</c:v>
              </c:pt>
            </c:numLit>
          </c:val>
        </c:ser>
        <c:ser>
          <c:idx val="1"/>
          <c:order val="1"/>
          <c:tx>
            <c:v>Importações</c:v>
          </c:tx>
          <c:spPr>
            <a:solidFill xmlns:a="http://schemas.openxmlformats.org/drawingml/2006/main">
              <a:srgbClr val="E0A514"/>
            </a:solidFill>
          </c:spPr>
          <c:marker>
            <c:symbol val="none"/>
          </c:marker>
          <c:cat>
            <c:numLit>
              <c:formatCode>General</c:formatCode>
              <c:ptCount val="9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07</c:v>
              </c:pt>
              <c:pt idx="7">
                <c:v>08</c:v>
              </c:pt>
              <c:pt idx="8">
                <c:v>09</c:v>
              </c:pt>
            </c:numLit>
          </c:cat>
          <c:val>
            <c:numLit>
              <c:formatCode>0.0</c:formatCode>
              <c:ptCount val="9"/>
              <c:pt idx="0">
                <c:v>85.11793558839105</c:v>
              </c:pt>
              <c:pt idx="1">
                <c:v>81.00687375042645</c:v>
              </c:pt>
              <c:pt idx="2">
                <c:v>81.51589430322247</c:v>
              </c:pt>
              <c:pt idx="3">
                <c:v>84.64995049671042</c:v>
              </c:pt>
              <c:pt idx="4">
                <c:v>83.09293923034816</c:v>
              </c:pt>
              <c:pt idx="5">
                <c:v>84.6431831250301</c:v>
              </c:pt>
              <c:pt idx="6">
                <c:v>84.81327899331929</c:v>
              </c:pt>
              <c:pt idx="7">
                <c:v>85.75434479212947</c:v>
              </c:pt>
              <c:pt idx="8">
                <c:v>99.90151136836562</c:v>
              </c:pt>
            </c:numLit>
          </c:val>
        </c:ser>
        <c:ser>
          <c:idx val="2"/>
          <c:order val="2"/>
          <c:tx>
            <c:v>Global</c:v>
          </c:tx>
          <c:spPr>
            <a:solidFill xmlns:a="http://schemas.openxmlformats.org/drawingml/2006/main">
              <a:srgbClr val="47796B"/>
            </a:solidFill>
          </c:spPr>
          <c:marker>
            <c:symbol val="none"/>
          </c:marker>
          <c:cat>
            <c:numLit>
              <c:formatCode>General</c:formatCode>
              <c:ptCount val="9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07</c:v>
              </c:pt>
              <c:pt idx="7">
                <c:v>08</c:v>
              </c:pt>
              <c:pt idx="8">
                <c:v>09</c:v>
              </c:pt>
            </c:numLit>
          </c:cat>
          <c:val>
            <c:numLit>
              <c:formatCode>0.0</c:formatCode>
              <c:ptCount val="9"/>
              <c:pt idx="0">
                <c:v>90.31731553315839</c:v>
              </c:pt>
              <c:pt idx="1">
                <c:v>84.23437200807835</c:v>
              </c:pt>
              <c:pt idx="2">
                <c:v>89.53444047417801</c:v>
              </c:pt>
              <c:pt idx="3">
                <c:v>92.31643020406588</c:v>
              </c:pt>
              <c:pt idx="4">
                <c:v>92.81061880142116</c:v>
              </c:pt>
              <c:pt idx="5">
                <c:v>81.57737261925291</c:v>
              </c:pt>
              <c:pt idx="6">
                <c:v>90.17198049617429</c:v>
              </c:pt>
              <c:pt idx="7">
                <c:v>85.49769587712592</c:v>
              </c:pt>
              <c:pt idx="8">
                <c:v>98.73132487630946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2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7E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Série trimestral 2022–2025</a:t>
            </a:r>
          </a:p>
        </c:rich>
      </c:tx>
      <c:overlay val="0"/>
    </c:title>
    <c:plotArea>
      <c:lineChart>
        <c:grouping val="standard"/>
        <c:ser>
          <c:idx val="0"/>
          <c:order val="0"/>
          <c:tx>
            <c:v>Exportações</c:v>
          </c:tx>
          <c:spPr>
            <a:solidFill xmlns:a="http://schemas.openxmlformats.org/drawingml/2006/main">
              <a:srgbClr val="075D3B"/>
            </a:solidFill>
          </c:spPr>
          <c:marker>
            <c:symbol val="none"/>
          </c:marker>
          <c:cat>
            <c:strLit>
              <c:ptCount val="15"/>
              <c:pt idx="0">
                <c:v>2022
T1</c:v>
              </c:pt>
              <c:pt idx="1">
                <c:v>2022
T2</c:v>
              </c:pt>
              <c:pt idx="2">
                <c:v>2022
T3</c:v>
              </c:pt>
              <c:pt idx="3">
                <c:v>2022
T4</c:v>
              </c:pt>
              <c:pt idx="4">
                <c:v>2023
T1</c:v>
              </c:pt>
              <c:pt idx="5">
                <c:v>2023
T2</c:v>
              </c:pt>
              <c:pt idx="6">
                <c:v>2023
T3</c:v>
              </c:pt>
              <c:pt idx="7">
                <c:v>2023
T4</c:v>
              </c:pt>
              <c:pt idx="8">
                <c:v>2024
T1</c:v>
              </c:pt>
              <c:pt idx="9">
                <c:v>2024
T2</c:v>
              </c:pt>
              <c:pt idx="10">
                <c:v>2024
T3</c:v>
              </c:pt>
              <c:pt idx="11">
                <c:v>2024
T4</c:v>
              </c:pt>
              <c:pt idx="12">
                <c:v>2025
T1</c:v>
              </c:pt>
              <c:pt idx="13">
                <c:v>2025
T2</c:v>
              </c:pt>
              <c:pt idx="14">
                <c:v>2025
T3</c:v>
              </c:pt>
            </c:strLit>
          </c:cat>
          <c:val>
            <c:numLit>
              <c:formatCode>0.0</c:formatCode>
              <c:ptCount val="15"/>
              <c:pt idx="0">
                <c:v>100.14274546715403</c:v>
              </c:pt>
              <c:pt idx="1">
                <c:v>100.38503847196826</c:v>
              </c:pt>
              <c:pt idx="2">
                <c:v>100.43221205771282</c:v>
              </c:pt>
              <c:pt idx="3">
                <c:v>100.03136729984185</c:v>
              </c:pt>
              <c:pt idx="4">
                <c:v>92.08864684123978</c:v>
              </c:pt>
              <c:pt idx="5">
                <c:v>97.71049998175947</c:v>
              </c:pt>
              <c:pt idx="6">
                <c:v>92.81149897880303</c:v>
              </c:pt>
              <c:pt idx="7">
                <c:v>110.48668073011957</c:v>
              </c:pt>
              <c:pt idx="8">
                <c:v>105.88936259600776</c:v>
              </c:pt>
              <c:pt idx="9">
                <c:v>126.81421474255012</c:v>
              </c:pt>
              <c:pt idx="10">
                <c:v>96.46930750119719</c:v>
              </c:pt>
              <c:pt idx="11">
                <c:v>92.84412357204023</c:v>
              </c:pt>
              <c:pt idx="12">
                <c:v>91.03928867591816</c:v>
              </c:pt>
              <c:pt idx="13">
                <c:v>86.78826379265347</c:v>
              </c:pt>
              <c:pt idx="14">
                <c:v>91.00563477277278</c:v>
              </c:pt>
            </c:numLit>
          </c:val>
        </c:ser>
        <c:ser>
          <c:idx val="1"/>
          <c:order val="1"/>
          <c:tx>
            <c:v>Importações</c:v>
          </c:tx>
          <c:spPr>
            <a:solidFill xmlns:a="http://schemas.openxmlformats.org/drawingml/2006/main">
              <a:srgbClr val="E0A514"/>
            </a:solidFill>
          </c:spPr>
          <c:marker>
            <c:symbol val="none"/>
          </c:marker>
          <c:cat>
            <c:strLit>
              <c:ptCount val="15"/>
              <c:pt idx="0">
                <c:v>2022
T1</c:v>
              </c:pt>
              <c:pt idx="1">
                <c:v>2022
T2</c:v>
              </c:pt>
              <c:pt idx="2">
                <c:v>2022
T3</c:v>
              </c:pt>
              <c:pt idx="3">
                <c:v>2022
T4</c:v>
              </c:pt>
              <c:pt idx="4">
                <c:v>2023
T1</c:v>
              </c:pt>
              <c:pt idx="5">
                <c:v>2023
T2</c:v>
              </c:pt>
              <c:pt idx="6">
                <c:v>2023
T3</c:v>
              </c:pt>
              <c:pt idx="7">
                <c:v>2023
T4</c:v>
              </c:pt>
              <c:pt idx="8">
                <c:v>2024
T1</c:v>
              </c:pt>
              <c:pt idx="9">
                <c:v>2024
T2</c:v>
              </c:pt>
              <c:pt idx="10">
                <c:v>2024
T3</c:v>
              </c:pt>
              <c:pt idx="11">
                <c:v>2024
T4</c:v>
              </c:pt>
              <c:pt idx="12">
                <c:v>2025
T1</c:v>
              </c:pt>
              <c:pt idx="13">
                <c:v>2025
T2</c:v>
              </c:pt>
              <c:pt idx="14">
                <c:v>2025
T3</c:v>
              </c:pt>
            </c:strLit>
          </c:cat>
          <c:val>
            <c:numLit>
              <c:formatCode>0.0</c:formatCode>
              <c:ptCount val="15"/>
              <c:pt idx="0">
                <c:v>100.33205109551005</c:v>
              </c:pt>
              <c:pt idx="1">
                <c:v>99.1678940803121</c:v>
              </c:pt>
              <c:pt idx="2">
                <c:v>105.27028956619336</c:v>
              </c:pt>
              <c:pt idx="3">
                <c:v>98.82648566919461</c:v>
              </c:pt>
              <c:pt idx="4">
                <c:v>95.75777772124903</c:v>
              </c:pt>
              <c:pt idx="5">
                <c:v>89.97082921166086</c:v>
              </c:pt>
              <c:pt idx="6">
                <c:v>95.60762447952922</c:v>
              </c:pt>
              <c:pt idx="7">
                <c:v>88.37435067066397</c:v>
              </c:pt>
              <c:pt idx="8">
                <c:v>82.15624258338607</c:v>
              </c:pt>
              <c:pt idx="9">
                <c:v>86.08459368086253</c:v>
              </c:pt>
              <c:pt idx="10">
                <c:v>86.53966685763157</c:v>
              </c:pt>
              <c:pt idx="11">
                <c:v>82.27215078349492</c:v>
              </c:pt>
              <c:pt idx="12">
                <c:v>79.4249614641231</c:v>
              </c:pt>
              <c:pt idx="13">
                <c:v>82.0108837354925</c:v>
              </c:pt>
              <c:pt idx="14">
                <c:v>85.38877746067786</c:v>
              </c:pt>
            </c:numLit>
          </c:val>
        </c:ser>
        <c:ser>
          <c:idx val="2"/>
          <c:order val="2"/>
          <c:tx>
            <c:v>Global</c:v>
          </c:tx>
          <c:spPr>
            <a:solidFill xmlns:a="http://schemas.openxmlformats.org/drawingml/2006/main">
              <a:srgbClr val="47796B"/>
            </a:solidFill>
          </c:spPr>
          <c:marker>
            <c:symbol val="none"/>
          </c:marker>
          <c:cat>
            <c:strLit>
              <c:ptCount val="15"/>
              <c:pt idx="0">
                <c:v>2022
T1</c:v>
              </c:pt>
              <c:pt idx="1">
                <c:v>2022
T2</c:v>
              </c:pt>
              <c:pt idx="2">
                <c:v>2022
T3</c:v>
              </c:pt>
              <c:pt idx="3">
                <c:v>2022
T4</c:v>
              </c:pt>
              <c:pt idx="4">
                <c:v>2023
T1</c:v>
              </c:pt>
              <c:pt idx="5">
                <c:v>2023
T2</c:v>
              </c:pt>
              <c:pt idx="6">
                <c:v>2023
T3</c:v>
              </c:pt>
              <c:pt idx="7">
                <c:v>2023
T4</c:v>
              </c:pt>
              <c:pt idx="8">
                <c:v>2024
T1</c:v>
              </c:pt>
              <c:pt idx="9">
                <c:v>2024
T2</c:v>
              </c:pt>
              <c:pt idx="10">
                <c:v>2024
T3</c:v>
              </c:pt>
              <c:pt idx="11">
                <c:v>2024
T4</c:v>
              </c:pt>
              <c:pt idx="12">
                <c:v>2025
T1</c:v>
              </c:pt>
              <c:pt idx="13">
                <c:v>2025
T2</c:v>
              </c:pt>
              <c:pt idx="14">
                <c:v>2025
T3</c:v>
              </c:pt>
            </c:strLit>
          </c:cat>
          <c:val>
            <c:numLit>
              <c:formatCode>0.0</c:formatCode>
              <c:ptCount val="15"/>
              <c:pt idx="0">
                <c:v>100.23740348877706</c:v>
              </c:pt>
              <c:pt idx="1">
                <c:v>99.77643279476646</c:v>
              </c:pt>
              <c:pt idx="2">
                <c:v>102.85138389844815</c:v>
              </c:pt>
              <c:pt idx="3">
                <c:v>99.42889334047022</c:v>
              </c:pt>
              <c:pt idx="4">
                <c:v>93.9233132121964</c:v>
              </c:pt>
              <c:pt idx="5">
                <c:v>93.84045169279246</c:v>
              </c:pt>
              <c:pt idx="6">
                <c:v>94.20963864536725</c:v>
              </c:pt>
              <c:pt idx="7">
                <c:v>99.42990743140473</c:v>
              </c:pt>
              <c:pt idx="8">
                <c:v>94.02214973579908</c:v>
              </c:pt>
              <c:pt idx="9">
                <c:v>106.44828381574264</c:v>
              </c:pt>
              <c:pt idx="10">
                <c:v>91.50421403350711</c:v>
              </c:pt>
              <c:pt idx="11">
                <c:v>87.55784636250017</c:v>
              </c:pt>
              <c:pt idx="12">
                <c:v>85.23180558152578</c:v>
              </c:pt>
              <c:pt idx="13">
                <c:v>84.39944234725168</c:v>
              </c:pt>
              <c:pt idx="14">
                <c:v>88.19705160744934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2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7E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18023-9E74-469C-821D-44FB7807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73A1C-5A5E-4D68-AEF2-D3BFAFC3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D3B"/>
                </a:solidFill>
              </a:defRPr>
            </a:pPr>
            <a:r>
              <a:rPr sz="1125" b="1">
                <a:solidFill>
                  <a:srgbClr val="075D3B"/>
                </a:solidFill>
              </a:rPr>
              <a:t>REPÚBLICA DE MOÇAMBIQUE · MINISTÉRIO DA ECONOMIA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459FD-42AB-4413-93FB-FC7914F5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762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73C2B"/>
                </a:solidFill>
              </a:defRPr>
            </a:pPr>
            <a:r>
              <a:rPr sz="4200" b="1">
                <a:solidFill>
                  <a:srgbClr val="073C2B"/>
                </a:solidFill>
              </a:rPr>
              <a:t>Índices Recalculados do</a:t>
            </a:r>
          </a:p>
          <a:p xmlns:a="http://schemas.openxmlformats.org/drawingml/2006/main">
            <a:pPr algn="l">
              <a:defRPr sz="4200" b="1">
                <a:solidFill>
                  <a:srgbClr val="073C2B"/>
                </a:solidFill>
              </a:defRPr>
            </a:pPr>
            <a:r>
              <a:rPr sz="4200" b="1">
                <a:solidFill>
                  <a:srgbClr val="073C2B"/>
                </a:solidFill>
              </a:rPr>
              <a:t>Comércio Externo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AD597-F084-4C13-ADCD-BD450396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75D3B"/>
                </a:solidFill>
              </a:defRPr>
            </a:pPr>
            <a:r>
              <a:rPr sz="1950" b="0">
                <a:solidFill>
                  <a:srgbClr val="075D3B"/>
                </a:solidFill>
              </a:rPr>
              <a:t>Exportações · Importações · Global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646D3-F290-4524-B927-4739D0E9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36B"/>
                </a:solidFill>
              </a:defRPr>
            </a:pPr>
            <a:r>
              <a:rPr sz="1650" b="0">
                <a:solidFill>
                  <a:srgbClr val="64736B"/>
                </a:solidFill>
              </a:rPr>
              <a:t>Séries mensal, trimestral, semestral e anual</a:t>
            </a:r>
          </a:p>
          <a:p xmlns:a="http://schemas.openxmlformats.org/drawingml/2006/main">
            <a:pPr algn="l">
              <a:defRPr sz="1650" b="0">
                <a:solidFill>
                  <a:srgbClr val="64736B"/>
                </a:solidFill>
              </a:defRPr>
            </a:pPr>
            <a:r>
              <a:rPr sz="1650" b="0">
                <a:solidFill>
                  <a:srgbClr val="64736B"/>
                </a:solidFill>
              </a:rPr>
              <a:t>Previsão indicativa para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4F213-A461-4CC1-9B7B-603127C6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43000"/>
            <a:ext cx="2286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C2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A4397-8C0A-4A31-8464-7E5FDAB2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EFB321"/>
                </a:solidFill>
              </a:defRPr>
            </a:pPr>
            <a:r>
              <a:rPr sz="3000" b="1">
                <a:solidFill>
                  <a:srgbClr val="EFB321"/>
                </a:solidFill>
              </a:rPr>
              <a:t>2022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2C5EE-54D7-41CA-970A-653EB8FE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09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ANO-BASE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C191D-749D-43A8-AA17-6A55B2A7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9FC249-A61B-49C0-B546-CCBBD625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005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Dados até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Setembro de 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374598-5395-4DDF-B6D8-404A2FC7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36B"/>
                </a:solidFill>
              </a:defRPr>
            </a:pPr>
            <a:r>
              <a:rPr sz="1050" b="1">
                <a:solidFill>
                  <a:srgbClr val="64736B"/>
                </a:solidFill>
              </a:rPr>
              <a:t>DNCE · Agosto de 2026</a:t>
            </a:r>
          </a:p>
        </p:txBody>
      </p:sp>
    </p:spTree>
    <p:extLst>
      <p:ext uri="{BB962C8B-B14F-4D97-AF65-F5344CB8AC3E}">
        <p14:creationId xmlns:p14="http://schemas.microsoft.com/office/powerpoint/2010/main" val="12389995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3287FF-4E47-4C05-A563-5E61D9B8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7B820-7008-41C6-B593-5A02599A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D3B"/>
                </a:solidFill>
              </a:defRPr>
            </a:pPr>
            <a:r>
              <a:rPr sz="1050" b="1">
                <a:solidFill>
                  <a:srgbClr val="075D3B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31423-FCBF-4054-BCE5-303CB308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3C2B"/>
                </a:solidFill>
              </a:defRPr>
            </a:pPr>
            <a:r>
              <a:rPr sz="2700" b="1">
                <a:solidFill>
                  <a:srgbClr val="073C2B"/>
                </a:solidFill>
              </a:rPr>
              <a:t>A nova base produz uma leitura diferente das exportações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7E76E-F940-42AA-AE37-A989BCDE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FBC53-3A2F-416B-8A73-B4FEA80E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A7177-DB92-4886-B282-40DE947A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FB321"/>
                </a:solidFill>
              </a:defRPr>
            </a:pPr>
            <a:r>
              <a:rPr sz="1200" b="1">
                <a:solidFill>
                  <a:srgbClr val="EFB321"/>
                </a:solidFill>
              </a:rPr>
              <a:t>RESULTADO EXECUTIVO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8BF41-BBAF-4514-8FA0-428F6AEC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FB321"/>
                </a:solidFill>
              </a:defRPr>
            </a:pPr>
            <a:r>
              <a:rPr sz="1200" b="1">
                <a:solidFill>
                  <a:srgbClr val="EFB321"/>
                </a:solidFill>
              </a:rPr>
              <a:t>EXPORTAÇÕES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A4120-E25F-4A08-A608-E6A28458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75D3B"/>
                </a:solidFill>
              </a:defRPr>
            </a:pPr>
            <a:r>
              <a:rPr sz="3900" b="1">
                <a:solidFill>
                  <a:srgbClr val="075D3B"/>
                </a:solidFill>
              </a:rPr>
              <a:t>88,17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CA144-0F2C-4F8A-968A-66E8617F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36B"/>
                </a:solidFill>
              </a:defRPr>
            </a:pPr>
            <a:r>
              <a:rPr sz="1275" b="0">
                <a:solidFill>
                  <a:srgbClr val="64736B"/>
                </a:solidFill>
              </a:rPr>
              <a:t>Janeiro–Setembro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D1DF2E-3359-49B6-AF1C-81E3E680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19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FB321"/>
                </a:solidFill>
              </a:defRPr>
            </a:pPr>
            <a:r>
              <a:rPr sz="1200" b="1">
                <a:solidFill>
                  <a:srgbClr val="EFB321"/>
                </a:solidFill>
              </a:rPr>
              <a:t>IMPORTAÇÕES 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E11837-887F-4BE5-993F-5625B3F5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75D3B"/>
                </a:solidFill>
              </a:defRPr>
            </a:pPr>
            <a:r>
              <a:rPr sz="3900" b="1">
                <a:solidFill>
                  <a:srgbClr val="075D3B"/>
                </a:solidFill>
              </a:rPr>
              <a:t>80,03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F0232-0A97-4272-82AD-237266C9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051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36B"/>
                </a:solidFill>
              </a:defRPr>
            </a:pPr>
            <a:r>
              <a:rPr sz="1275" b="0">
                <a:solidFill>
                  <a:srgbClr val="64736B"/>
                </a:solidFill>
              </a:rPr>
              <a:t>Janeiro–Setembro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E0C68E-0939-4A43-A9A9-43522357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19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FB321"/>
                </a:solidFill>
              </a:defRPr>
            </a:pPr>
            <a:r>
              <a:rPr sz="1200" b="1">
                <a:solidFill>
                  <a:srgbClr val="EFB321"/>
                </a:solidFill>
              </a:rPr>
              <a:t>GLOBAL 2025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2A9A5C-0999-4D83-AEB5-48B9A40D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81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75D3B"/>
                </a:solidFill>
              </a:defRPr>
            </a:pPr>
            <a:r>
              <a:rPr sz="3900" b="1">
                <a:solidFill>
                  <a:srgbClr val="075D3B"/>
                </a:solidFill>
              </a:rPr>
              <a:t>84,10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1938A2-67AD-44C5-AFB2-627582FE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051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36B"/>
                </a:solidFill>
              </a:defRPr>
            </a:pPr>
            <a:r>
              <a:rPr sz="1275" b="0">
                <a:solidFill>
                  <a:srgbClr val="64736B"/>
                </a:solidFill>
              </a:rPr>
              <a:t>Ponderação fixa de 2022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8FEFB3-EC64-4A6F-853B-3FDE8F26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09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380817-CC0D-4D3C-A0C7-F7A7E234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962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3C2B"/>
                </a:solidFill>
              </a:defRPr>
            </a:pPr>
            <a:r>
              <a:rPr sz="1650" b="1">
                <a:solidFill>
                  <a:srgbClr val="073C2B"/>
                </a:solidFill>
              </a:rPr>
              <a:t>Em 2024, as exportações recuperaram para 110,77. Nos primeiros nove meses de 2025, recuaram para 88,17, enquanto as importações permaneceram numa trajectória descendente.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76E437-2A81-4DC2-9893-06F15761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EXP_2022_2025.xlsx e ficheiros IMP 2022–2025</a:t>
            </a:r>
          </a:p>
        </p:txBody>
      </p:sp>
    </p:spTree>
    <p:extLst>
      <p:ext uri="{BB962C8B-B14F-4D97-AF65-F5344CB8AC3E}">
        <p14:creationId xmlns:p14="http://schemas.microsoft.com/office/powerpoint/2010/main" val="13682201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3FE7FA-97F8-4CFA-B910-7FCFDDFE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E828A-C6B9-48D7-AE3B-BA113C1E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D3B"/>
                </a:solidFill>
              </a:defRPr>
            </a:pPr>
            <a:r>
              <a:rPr sz="1050" b="1">
                <a:solidFill>
                  <a:srgbClr val="075D3B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476A3-DC8B-481C-BF81-5F4B7CF6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3C2B"/>
                </a:solidFill>
              </a:defRPr>
            </a:pPr>
            <a:r>
              <a:rPr sz="2700" b="1">
                <a:solidFill>
                  <a:srgbClr val="073C2B"/>
                </a:solidFill>
              </a:rPr>
              <a:t>2025 deve ser lido como Janeiro–Setembro, não como ano completo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447E8-10C3-4DEE-9210-BFDD28B1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1E124-306F-4B7B-B77A-2AD6EC9C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5EBC1-F859-47A0-8D27-E6FF56A6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762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262E8-64E7-421D-A05E-B5C28200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FB321"/>
                </a:solidFill>
              </a:defRPr>
            </a:pPr>
            <a:r>
              <a:rPr sz="1200" b="1">
                <a:solidFill>
                  <a:srgbClr val="EFB321"/>
                </a:solidFill>
              </a:rPr>
              <a:t>COBERTURA RECEBIDA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02A0E-047B-4697-9589-EA42D1CA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3C2B"/>
                </a:solidFill>
              </a:defRPr>
            </a:pPr>
            <a:r>
              <a:rPr sz="2100" b="1">
                <a:solidFill>
                  <a:srgbClr val="073C2B"/>
                </a:solidFill>
              </a:rPr>
              <a:t>Jan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9DB7C-090D-4A9B-B90D-88B5D2E3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717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FB321"/>
                </a:solidFill>
              </a:defRPr>
            </a:pPr>
            <a:r>
              <a:rPr sz="2100" b="1">
                <a:solidFill>
                  <a:srgbClr val="EFB321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7D191A-530F-4F4A-845E-B03D3713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717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3C2B"/>
                </a:solidFill>
              </a:defRPr>
            </a:pPr>
            <a:r>
              <a:rPr sz="2100" b="1">
                <a:solidFill>
                  <a:srgbClr val="073C2B"/>
                </a:solidFill>
              </a:rPr>
              <a:t>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F9CF04-090A-4A0C-9B0A-F01A4E61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5D3B"/>
                </a:solidFill>
              </a:defRPr>
            </a:pPr>
            <a:r>
              <a:rPr sz="1575" b="1">
                <a:solidFill>
                  <a:srgbClr val="075D3B"/>
                </a:solidFill>
              </a:rPr>
              <a:t>9 meses observados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A0C1A-ECED-4129-9A35-B876576B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36B"/>
                </a:solidFill>
              </a:defRPr>
            </a:pPr>
            <a:r>
              <a:rPr sz="1500" b="0">
                <a:solidFill>
                  <a:srgbClr val="64736B"/>
                </a:solidFill>
              </a:rPr>
              <a:t>Outubro, Novembro e Dezembro ainda não constam dos ficheiros recebidos.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B76E7-2060-4EF4-B72B-204137A4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3C2B"/>
                </a:solidFill>
              </a:defRPr>
            </a:pPr>
            <a:r>
              <a:rPr sz="2100" b="1">
                <a:solidFill>
                  <a:srgbClr val="073C2B"/>
                </a:solidFill>
              </a:rPr>
              <a:t>Implicção metodológica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5227FB-1255-45A6-BA48-5710A954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51D"/>
                </a:solidFill>
              </a:defRPr>
            </a:pPr>
            <a:r>
              <a:rPr sz="1575" b="0">
                <a:solidFill>
                  <a:srgbClr val="10251D"/>
                </a:solidFill>
              </a:rPr>
              <a:t>• O índice anual de 2025 é acumulado até Setembro.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0251D"/>
                </a:solidFill>
              </a:defRPr>
            </a:pPr>
            <a:r>
              <a:rPr sz="1575" b="0">
                <a:solidFill>
                  <a:srgbClr val="10251D"/>
                </a:solidFill>
              </a:rPr>
              <a:t>• O segundo semestre de 2025 cobre apenas Julho–Setembro.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0251D"/>
                </a:solidFill>
              </a:defRPr>
            </a:pPr>
            <a:r>
              <a:rPr sz="1575" b="0">
                <a:solidFill>
                  <a:srgbClr val="10251D"/>
                </a:solidFill>
              </a:rPr>
              <a:t>• A previsão 2026 deve ser revista quando 2025 estiver completo.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59CF7D-BE2A-454E-831D-16C5BE2C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Auditoria da cobertura temporal das fontes</a:t>
            </a:r>
          </a:p>
        </p:txBody>
      </p:sp>
    </p:spTree>
    <p:extLst>
      <p:ext uri="{BB962C8B-B14F-4D97-AF65-F5344CB8AC3E}">
        <p14:creationId xmlns:p14="http://schemas.microsoft.com/office/powerpoint/2010/main" val="18781537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DF6C72-BAC1-4F2A-8A30-34AC0A14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AD482-2B61-4841-AE88-28051915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D3B"/>
                </a:solidFill>
              </a:defRPr>
            </a:pPr>
            <a:r>
              <a:rPr sz="1050" b="1">
                <a:solidFill>
                  <a:srgbClr val="075D3B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E47BD-0B8C-496E-9494-20CF2FE8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3C2B"/>
                </a:solidFill>
              </a:defRPr>
            </a:pPr>
            <a:r>
              <a:rPr sz="2700" b="1">
                <a:solidFill>
                  <a:srgbClr val="073C2B"/>
                </a:solidFill>
              </a:rPr>
              <a:t>Um único método sustenta todas as periodicidades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CEB3B-4FEF-48BB-8A8A-ED107882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8EEFD-4BBE-433B-A610-26149018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9149A-094F-4BA7-ADE6-FA88FDD4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8097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8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407A0-DB14-4C51-BDD8-7CC1D081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FB321"/>
                </a:solidFill>
              </a:defRPr>
            </a:pPr>
            <a:r>
              <a:rPr sz="2400" b="1">
                <a:solidFill>
                  <a:srgbClr val="EFB321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188ED-FE1F-455C-BD0F-527914F6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3C2B"/>
                </a:solidFill>
              </a:defRPr>
            </a:pPr>
            <a:r>
              <a:rPr sz="1725" b="1">
                <a:solidFill>
                  <a:srgbClr val="073C2B"/>
                </a:solidFill>
              </a:rPr>
              <a:t>Filtrar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92F37-549B-455A-B2A1-0021081A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36B"/>
                </a:solidFill>
              </a:defRPr>
            </a:pPr>
            <a:r>
              <a:rPr sz="1350" b="0">
                <a:solidFill>
                  <a:srgbClr val="64736B"/>
                </a:solidFill>
              </a:rPr>
              <a:t>Unidades, valor e quantidade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2865D2-507C-4B3B-B74A-E7ADFFE8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62125"/>
            <a:ext cx="18097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14FBC-E7D9-4EA2-AE82-31614633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52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FB321"/>
                </a:solidFill>
              </a:defRPr>
            </a:pPr>
            <a:r>
              <a:rPr sz="2400" b="1">
                <a:solidFill>
                  <a:srgbClr val="EFB321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3E9F2-8B68-4C58-B648-B83DC3D4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193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3C2B"/>
                </a:solidFill>
              </a:defRPr>
            </a:pPr>
            <a:r>
              <a:rPr sz="1725" b="1">
                <a:solidFill>
                  <a:srgbClr val="073C2B"/>
                </a:solidFill>
              </a:rPr>
              <a:t>Fixar o cabaz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4A282C-4153-4C1C-880B-C0392F26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36B"/>
                </a:solidFill>
              </a:defRPr>
            </a:pPr>
            <a:r>
              <a:rPr sz="1350" b="0">
                <a:solidFill>
                  <a:srgbClr val="64736B"/>
                </a:solidFill>
              </a:rPr>
              <a:t>Cinco testes em 2022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881E4C-6887-420A-9A6C-34F9F7DC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762125"/>
            <a:ext cx="18097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8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B949B-95FC-4103-8638-8698149A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52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FB321"/>
                </a:solidFill>
              </a:defRPr>
            </a:pPr>
            <a:r>
              <a:rPr sz="2400" b="1">
                <a:solidFill>
                  <a:srgbClr val="EFB321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8E18BF-DBA1-4114-8F40-41715302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193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3C2B"/>
                </a:solidFill>
              </a:defRPr>
            </a:pPr>
            <a:r>
              <a:rPr sz="1725" b="1">
                <a:solidFill>
                  <a:srgbClr val="073C2B"/>
                </a:solidFill>
              </a:rPr>
              <a:t>Calcular o VU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94F008-088D-4307-ABA5-E7B46931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43250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36B"/>
                </a:solidFill>
              </a:defRPr>
            </a:pPr>
            <a:r>
              <a:rPr sz="1350" b="0">
                <a:solidFill>
                  <a:srgbClr val="64736B"/>
                </a:solidFill>
              </a:rPr>
              <a:t>Valor USD ÷ kg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A71250-DA05-4015-81E8-A6550A95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62125"/>
            <a:ext cx="18097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4C1213-21F2-4271-B764-B7AA0171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52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FB321"/>
                </a:solidFill>
              </a:defRPr>
            </a:pPr>
            <a:r>
              <a:rPr sz="2400" b="1">
                <a:solidFill>
                  <a:srgbClr val="EFB321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4C2A55-4695-4A05-86B4-9F343DB6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193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3C2B"/>
                </a:solidFill>
              </a:defRPr>
            </a:pPr>
            <a:r>
              <a:rPr sz="1725" b="1">
                <a:solidFill>
                  <a:srgbClr val="073C2B"/>
                </a:solidFill>
              </a:rPr>
              <a:t>Comparar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0EA5A-D50E-4E67-8D2A-D14842B2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43250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36B"/>
                </a:solidFill>
              </a:defRPr>
            </a:pPr>
            <a:r>
              <a:rPr sz="1350" b="0">
                <a:solidFill>
                  <a:srgbClr val="64736B"/>
                </a:solidFill>
              </a:rPr>
              <a:t>VU corrente ÷ VU base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D16C3B-ABEF-444E-B918-41DB390E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62125"/>
            <a:ext cx="18097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8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34276C-34F6-4F8E-A634-2785F13B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52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FB321"/>
                </a:solidFill>
              </a:defRPr>
            </a:pPr>
            <a:r>
              <a:rPr sz="2400" b="1">
                <a:solidFill>
                  <a:srgbClr val="EFB321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76402D-BD4F-4896-AD85-6E57948C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193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3C2B"/>
                </a:solidFill>
              </a:defRPr>
            </a:pPr>
            <a:r>
              <a:rPr sz="1725" b="1">
                <a:solidFill>
                  <a:srgbClr val="073C2B"/>
                </a:solidFill>
              </a:rPr>
              <a:t>Ponderar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437C53-46F1-4736-A8F4-81BDDF03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43250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36B"/>
                </a:solidFill>
              </a:defRPr>
            </a:pPr>
            <a:r>
              <a:rPr sz="1350" b="0">
                <a:solidFill>
                  <a:srgbClr val="64736B"/>
                </a:solidFill>
              </a:rPr>
              <a:t>Valor do período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BE59BD-C37C-4352-9A73-78114FC4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5D3B"/>
                </a:solidFill>
              </a:defRPr>
            </a:pPr>
            <a:r>
              <a:rPr sz="1425" b="1">
                <a:solidFill>
                  <a:srgbClr val="075D3B"/>
                </a:solidFill>
              </a:rPr>
              <a:t>IVU admissível: 20–300 · Cabaz 2022: ≥6 meses, amplitude e CV ≤30%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468751-3F6A-4358-954D-39973913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Metodologia aprovada aplicada ao novo recálculo</a:t>
            </a:r>
          </a:p>
        </p:txBody>
      </p:sp>
    </p:spTree>
    <p:extLst>
      <p:ext uri="{BB962C8B-B14F-4D97-AF65-F5344CB8AC3E}">
        <p14:creationId xmlns:p14="http://schemas.microsoft.com/office/powerpoint/2010/main" val="17893367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EE4749-6634-4954-B206-FD521FD4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F1F1A-691B-47C8-990F-B455A0F5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D3B"/>
                </a:solidFill>
              </a:defRPr>
            </a:pPr>
            <a:r>
              <a:rPr sz="1050" b="1">
                <a:solidFill>
                  <a:srgbClr val="075D3B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DE4EE-4019-45B3-99C1-708674BE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3C2B"/>
                </a:solidFill>
              </a:defRPr>
            </a:pPr>
            <a:r>
              <a:rPr sz="2700" b="1">
                <a:solidFill>
                  <a:srgbClr val="073C2B"/>
                </a:solidFill>
              </a:rPr>
              <a:t>A auditoria reteve 98 SH8 nas exportações e 300 nas importações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6AA34-1240-4160-9F60-703D7385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12706-7B1E-4B8E-B788-13DB8145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02977-642C-4067-9003-51D62B88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2D5CA-AD0F-49C3-9302-685E2DF3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288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Fluxo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59D89-6444-4C13-87E2-E7D7B286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45BDD-BFC1-4710-9C83-EB977931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8288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Recebidos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FD2D2-A508-4D09-A0C5-A962F170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2BD4F-5812-41B5-8E29-6D1583CB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8288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Elegíveis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20946-E3B3-437B-9926-D1E7F142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698FA-C085-4055-9E17-40066734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288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Unid. excl.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9C6FEC-7830-464B-BA11-17C49A61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E3356-C42B-4A82-9B89-CBAA52F7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82880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Cabaz SH8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7344D9-43D5-4233-A748-28D43BAA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6AD4C0-A1FF-49AD-8B04-D5895FBF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669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51D"/>
                </a:solidFill>
              </a:defRPr>
            </a:pPr>
            <a:r>
              <a:rPr sz="1350" b="0">
                <a:solidFill>
                  <a:srgbClr val="10251D"/>
                </a:solidFill>
              </a:rPr>
              <a:t>Exportações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C8A014-2C0D-47A7-BEE7-1A9983A6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BEED0D-E3D5-44D8-B9A1-A947EFC1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2669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51D"/>
                </a:solidFill>
              </a:defRPr>
            </a:pPr>
            <a:r>
              <a:rPr sz="1350" b="0">
                <a:solidFill>
                  <a:srgbClr val="10251D"/>
                </a:solidFill>
              </a:rPr>
              <a:t>52 035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F06575-7B63-4C77-BA29-D828A04B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479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9713DA-9233-4FF1-A850-BF465651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2669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0251D"/>
                </a:solidFill>
              </a:defRPr>
            </a:pPr>
            <a:r>
              <a:rPr sz="1350" b="0">
                <a:solidFill>
                  <a:srgbClr val="10251D"/>
                </a:solidFill>
              </a:rPr>
              <a:t>20 835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CA872E-3CF3-4811-8F49-D0FC95C9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D00962-2157-476D-9161-936D4F0B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2669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0251D"/>
                </a:solidFill>
              </a:defRPr>
            </a:pPr>
            <a:r>
              <a:rPr sz="1350" b="0">
                <a:solidFill>
                  <a:srgbClr val="10251D"/>
                </a:solidFill>
              </a:rPr>
              <a:t>10 970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9BFAF5-7BB5-4534-A6E6-736FB57F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479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AF0DCC-3F4C-4245-9CDF-154AF6A2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669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0251D"/>
                </a:solidFill>
              </a:defRPr>
            </a:pPr>
            <a:r>
              <a:rPr sz="1350" b="0">
                <a:solidFill>
                  <a:srgbClr val="10251D"/>
                </a:solidFill>
              </a:rPr>
              <a:t>98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B7A4CC-851E-4FC9-9950-70332B86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A084E7-34F0-4815-A310-0438CD1A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051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51D"/>
                </a:solidFill>
              </a:defRPr>
            </a:pPr>
            <a:r>
              <a:rPr sz="1350" b="0">
                <a:solidFill>
                  <a:srgbClr val="10251D"/>
                </a:solidFill>
              </a:rPr>
              <a:t>Importações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ECB283-E7E4-4235-9098-520CF8BC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860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1E3E23-B063-44F2-98C6-EE62AE0C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7051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51D"/>
                </a:solidFill>
              </a:defRPr>
            </a:pPr>
            <a:r>
              <a:rPr sz="1350" b="0">
                <a:solidFill>
                  <a:srgbClr val="10251D"/>
                </a:solidFill>
              </a:rPr>
              <a:t>1 442 520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E47DFB-CCB9-4991-9A7A-23994CA4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DB683B-7F81-4057-AE57-799A5142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7051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0251D"/>
                </a:solidFill>
              </a:defRPr>
            </a:pPr>
            <a:r>
              <a:rPr sz="1350" b="0">
                <a:solidFill>
                  <a:srgbClr val="10251D"/>
                </a:solidFill>
              </a:rPr>
              <a:t>318 029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353CFB-42ED-49A9-B4ED-EB94C609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860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DD0B23-3545-4641-9A84-44CC322A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7051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0251D"/>
                </a:solidFill>
              </a:defRPr>
            </a:pPr>
            <a:r>
              <a:rPr sz="1350" b="0">
                <a:solidFill>
                  <a:srgbClr val="10251D"/>
                </a:solidFill>
              </a:rPr>
              <a:t>577 087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82B108-8429-46DB-8AE1-A9B542CA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860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8CE7D2-27B1-409C-ACF3-141CFD95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70510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0251D"/>
                </a:solidFill>
              </a:defRPr>
            </a:pPr>
            <a:r>
              <a:rPr sz="1350" b="0">
                <a:solidFill>
                  <a:srgbClr val="10251D"/>
                </a:solidFill>
              </a:rPr>
              <a:t>300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4604BF-2D88-498F-8B8A-6E024D84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9144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C4A3D8-05CE-42C1-A8F1-0DA80000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B321"/>
                </a:solidFill>
              </a:defRPr>
            </a:pPr>
            <a:r>
              <a:rPr sz="1350" b="1">
                <a:solidFill>
                  <a:srgbClr val="EFB321"/>
                </a:solidFill>
              </a:rPr>
              <a:t>Critério de selecção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2592CF-6574-4F29-B169-2C30CDD6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3C2B"/>
                </a:solidFill>
              </a:defRPr>
            </a:pPr>
            <a:r>
              <a:rPr sz="1500" b="0">
                <a:solidFill>
                  <a:srgbClr val="073C2B"/>
                </a:solidFill>
              </a:rPr>
              <a:t>Apenas produtos com continuidade, estabilidade e valores unitários comparáveis entram no índice. A redução do cabaz evita que mudanças extremas ou unidades incompatíveis distorçam o resultado.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F679DB-E31B-42C8-91CE-74D962B2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Auditoria das fontes recebidas</a:t>
            </a:r>
          </a:p>
        </p:txBody>
      </p:sp>
    </p:spTree>
    <p:extLst>
      <p:ext uri="{BB962C8B-B14F-4D97-AF65-F5344CB8AC3E}">
        <p14:creationId xmlns:p14="http://schemas.microsoft.com/office/powerpoint/2010/main" val="12455668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5CFEC-DC7C-484F-81D2-D5581E3D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E2B34-E5A9-4721-9F4B-10E10232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D3B"/>
                </a:solidFill>
              </a:defRPr>
            </a:pPr>
            <a:r>
              <a:rPr sz="1050" b="1">
                <a:solidFill>
                  <a:srgbClr val="075D3B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81A39-3592-4F89-AB43-FB3E0931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3C2B"/>
                </a:solidFill>
              </a:defRPr>
            </a:pPr>
            <a:r>
              <a:rPr sz="2700" b="1">
                <a:solidFill>
                  <a:srgbClr val="073C2B"/>
                </a:solidFill>
              </a:rPr>
              <a:t>O Global permaneceu abaixo da base depois de 2022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6FCAD-594F-4780-A110-F0394EE9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9C050-8817-4EE6-AFF6-E6A09D45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06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8096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b9906676be4c9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060F9-47DA-40ED-A9A9-0D2D2762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097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B321"/>
                </a:solidFill>
              </a:defRPr>
            </a:pPr>
            <a:r>
              <a:rPr sz="1350" b="1">
                <a:solidFill>
                  <a:srgbClr val="EFB321"/>
                </a:solidFill>
              </a:rPr>
              <a:t>2024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39496-CE36-464D-A286-E129BA0B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90750"/>
            <a:ext cx="1714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D3B"/>
                </a:solidFill>
              </a:defRPr>
            </a:pPr>
            <a:r>
              <a:rPr sz="2250" b="1">
                <a:solidFill>
                  <a:srgbClr val="075D3B"/>
                </a:solidFill>
              </a:rPr>
              <a:t>Exportações</a:t>
            </a:r>
          </a:p>
          <a:p xmlns:a="http://schemas.openxmlformats.org/drawingml/2006/main">
            <a:pPr algn="l">
              <a:defRPr sz="2250" b="1">
                <a:solidFill>
                  <a:srgbClr val="075D3B"/>
                </a:solidFill>
              </a:defRPr>
            </a:pPr>
            <a:r>
              <a:rPr sz="2250" b="1">
                <a:solidFill>
                  <a:srgbClr val="075D3B"/>
                </a:solidFill>
              </a:rPr>
              <a:t>110,77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7DCBB-343E-4254-A95E-54C5639C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7662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B321"/>
                </a:solidFill>
              </a:defRPr>
            </a:pPr>
            <a:r>
              <a:rPr sz="1350" b="1">
                <a:solidFill>
                  <a:srgbClr val="EFB321"/>
                </a:solidFill>
              </a:rPr>
              <a:t>2025 Jan–Set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A8B99-F062-4942-A8D6-A24EE903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57625"/>
            <a:ext cx="1714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3C2B"/>
                </a:solidFill>
              </a:defRPr>
            </a:pPr>
            <a:r>
              <a:rPr sz="2250" b="1">
                <a:solidFill>
                  <a:srgbClr val="073C2B"/>
                </a:solidFill>
              </a:rPr>
              <a:t>Global</a:t>
            </a:r>
          </a:p>
          <a:p xmlns:a="http://schemas.openxmlformats.org/drawingml/2006/main">
            <a:pPr algn="l">
              <a:defRPr sz="2250" b="1">
                <a:solidFill>
                  <a:srgbClr val="073C2B"/>
                </a:solidFill>
              </a:defRPr>
            </a:pPr>
            <a:r>
              <a:rPr sz="2250" b="1">
                <a:solidFill>
                  <a:srgbClr val="073C2B"/>
                </a:solidFill>
              </a:rPr>
              <a:t>84,10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0F87A6-8908-4F0D-8ADB-932BBABB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Cálculos anuais, base 2022 = 100</a:t>
            </a:r>
          </a:p>
        </p:txBody>
      </p:sp>
    </p:spTree>
    <p:extLst>
      <p:ext uri="{BB962C8B-B14F-4D97-AF65-F5344CB8AC3E}">
        <p14:creationId xmlns:p14="http://schemas.microsoft.com/office/powerpoint/2010/main" val="17778246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C8473-32CD-4D29-A13E-57013C85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EAAFA-1C89-4D3F-81CA-89A89469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D3B"/>
                </a:solidFill>
              </a:defRPr>
            </a:pPr>
            <a:r>
              <a:rPr sz="1050" b="1">
                <a:solidFill>
                  <a:srgbClr val="075D3B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1FE9B-F903-4AF6-B627-8C8172BE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3C2B"/>
                </a:solidFill>
              </a:defRPr>
            </a:pPr>
            <a:r>
              <a:rPr sz="2700" b="1">
                <a:solidFill>
                  <a:srgbClr val="073C2B"/>
                </a:solidFill>
              </a:rPr>
              <a:t>Os índices mensais revelam variações que o anual ocultava — 2022/2023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1B960-6651-4A3D-9239-6F0FB486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507AB-AB20-458E-99B4-BBBF2E70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07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23875" y="1666875"/>
          <a:ext xmlns:a="http://schemas.openxmlformats.org/drawingml/2006/main" cx="5429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aafb5ad44d4000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381750" y="1666875"/>
          <a:ext xmlns:a="http://schemas.openxmlformats.org/drawingml/2006/main" cx="5429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e41d9262c847d8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6734D-A290-4707-B5FD-2DD38D8A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Séries calculadas a partir das transacções de cada mês</a:t>
            </a:r>
          </a:p>
        </p:txBody>
      </p:sp>
    </p:spTree>
    <p:extLst>
      <p:ext uri="{BB962C8B-B14F-4D97-AF65-F5344CB8AC3E}">
        <p14:creationId xmlns:p14="http://schemas.microsoft.com/office/powerpoint/2010/main" val="13403749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8ED9F-0522-4E73-8793-10B28DB6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14595-155E-404F-8026-F832630A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D3B"/>
                </a:solidFill>
              </a:defRPr>
            </a:pPr>
            <a:r>
              <a:rPr sz="1050" b="1">
                <a:solidFill>
                  <a:srgbClr val="075D3B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2677D-FE90-49F0-A949-7CF594D3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3C2B"/>
                </a:solidFill>
              </a:defRPr>
            </a:pPr>
            <a:r>
              <a:rPr sz="2700" b="1">
                <a:solidFill>
                  <a:srgbClr val="073C2B"/>
                </a:solidFill>
              </a:rPr>
              <a:t>Os índices mensais revelam variações que o anual ocultava — 2024/2025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D45E9-AE09-42A8-9DC1-E67662DB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8B26E-ADC0-44E1-BCD3-A9F91A58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08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23875" y="1666875"/>
          <a:ext xmlns:a="http://schemas.openxmlformats.org/drawingml/2006/main" cx="5429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548ee8c56b4fe1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381750" y="1666875"/>
          <a:ext xmlns:a="http://schemas.openxmlformats.org/drawingml/2006/main" cx="5429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eef3bc4f0e4be2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18AA8-36EB-46E6-B63E-EA7E3DD5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Séries calculadas a partir das transacções de cada mês</a:t>
            </a:r>
          </a:p>
        </p:txBody>
      </p:sp>
    </p:spTree>
    <p:extLst>
      <p:ext uri="{BB962C8B-B14F-4D97-AF65-F5344CB8AC3E}">
        <p14:creationId xmlns:p14="http://schemas.microsoft.com/office/powerpoint/2010/main" val="915308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303A3-E5A4-442A-9033-43DE5D4C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C849F-5534-4774-ABB4-88647151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D3B"/>
                </a:solidFill>
              </a:defRPr>
            </a:pPr>
            <a:r>
              <a:rPr sz="1050" b="1">
                <a:solidFill>
                  <a:srgbClr val="075D3B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CB8BE-CB39-40B4-A40B-2F916171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3C2B"/>
                </a:solidFill>
              </a:defRPr>
            </a:pPr>
            <a:r>
              <a:rPr sz="2700" b="1">
                <a:solidFill>
                  <a:srgbClr val="073C2B"/>
                </a:solidFill>
              </a:rPr>
              <a:t>Cada trimestre foi recalculado com as suas próprias transacções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9DA0C-F9F6-4BB1-B232-8867ACE4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7B427-025A-4172-8C4A-DDD2B093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09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10382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3421950105469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27759-81A7-4FE2-AA00-D9D6C443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Agregação trimestral SH8</a:t>
            </a:r>
          </a:p>
        </p:txBody>
      </p:sp>
    </p:spTree>
    <p:extLst>
      <p:ext uri="{BB962C8B-B14F-4D97-AF65-F5344CB8AC3E}">
        <p14:creationId xmlns:p14="http://schemas.microsoft.com/office/powerpoint/2010/main" val="7670125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591C7F2-0A4E-45C2-818F-60CF65E9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44CA4-8E05-4178-B681-B2857D8A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D3B"/>
                </a:solidFill>
              </a:defRPr>
            </a:pPr>
            <a:r>
              <a:rPr sz="1050" b="1">
                <a:solidFill>
                  <a:srgbClr val="075D3B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5BEE3-6F82-4CCE-B7C4-83AA2A05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3C2B"/>
                </a:solidFill>
              </a:defRPr>
            </a:pPr>
            <a:r>
              <a:rPr sz="2700" b="1">
                <a:solidFill>
                  <a:srgbClr val="073C2B"/>
                </a:solidFill>
              </a:rPr>
              <a:t>O primeiro semestre de 2024 concentrou a maior pressão exportadora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0068C-1FD8-4DF9-98DB-C89E1C39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B84B3-C1D7-4DAD-9FA7-67DF37DA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76135-9568-49DB-974C-435FEACA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0E9DC-A63F-43C6-A6C8-8D458558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906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Semestre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E7817-B5A6-4CD6-8AF1-79DD48F7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5716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8A781-F66A-4505-85E8-FE4E5FB9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59067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Exportações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B8842-E6B4-4607-AB4A-563C2B49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5716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BC47B-E0DF-41CD-8CDE-28D13AEA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9067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Importações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C6F60-2796-4EE5-B1C1-0A35AEF1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5716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6535DF-A16A-4834-93FE-A43AC761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5906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Global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8C507-07D5-4478-90FB-E20ABA1A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63B4FC-2C55-48D9-A387-8868EB48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9067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Cobertura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9F333F-5A15-4C0C-AFB3-9AC070D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7167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74A154-54F7-4C2A-88F9-51325FF7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9072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2022 S1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77B5F0-5691-4E53-AA2B-DCAE385C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9716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2BECFB-5C49-4AD2-8F49-3AB152CB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9072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100,14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3B4677-5A4A-4D9B-8F2B-853448A3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716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867070-30AC-499A-953F-791908ED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9072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99,22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5986D4-7CBF-40B7-A526-32B72291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7167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C85E88-F639-42BA-BF98-FB175F14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9072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99,68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6F067A-A7EB-4E61-ABBD-D44A6F8A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716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75ACC0-DB71-4EFD-B852-656545B7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9072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Completo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022904-A6F7-4F7B-97DE-4512D830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717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AD0412-CDBA-4C7F-983D-1E776261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907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2022 S2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17E926-4DAA-47B1-86CF-563B4692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3717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C264E6-E26A-4B1D-AE8E-0C844AAA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9077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100,14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979F68-4193-4B72-9333-C8D5C800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717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AA3DC9-4013-4540-99A6-F0E2A3F2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9077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101,82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CFFBF1-706B-40BA-8952-04FFDBF3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717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79881A-5BD4-4AEB-A917-2F35748A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907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100,98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3AD233-FB16-4D79-9BA6-4EBB1A27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717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209751-FB35-4EC2-B45C-ACEB11B3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9077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Completo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9B899F-4F5C-4ED4-A5C3-5B199AD0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7177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41FB64-0585-43AD-B2E1-97D37762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9082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2023 S1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0D9651-881D-4637-8687-7A3C58E6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717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729171-14BA-47F3-A723-84CBA636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9082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95,06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4CD404-CEF9-427D-AEAC-8E7D1AE3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717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79B860-FC1B-4112-9439-911D7E2C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9082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91,28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F0D470-0E87-490B-B52F-4F6BA94F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7177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FA407D-E525-45A3-8E5E-17BE8998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9082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93,17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0A6831-B5DC-4AC3-91F5-CE4F2D23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717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3AE2BC-0AAD-453F-A03A-2C97ED7B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9082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Completo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9D06AE-9615-469C-9F9F-B6D0490E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718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09E869E-84FE-4ADE-998C-C14CEF99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908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2023 S2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21D640E-9825-4C93-A1B9-14E0DFB2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1718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3488389-B9DC-4C48-AC0F-B384C32E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9087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99,93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401C053-0CA1-45FC-BBB2-92BC6E9E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718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B462107-1928-4A3D-AC44-43C44FE2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9087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90,36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06FD33F-C94A-4196-BE04-37741A29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718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2C5F68-2DC8-4377-BEFD-A9468F4D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908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95,14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94AD4C3-45A2-4DE1-95FE-02BCC109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718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BC35218-6921-4CC4-AEFA-9C2AF02C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9087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Completo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2B95AD2-BFD6-4CB8-9A90-DD74DAA7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7187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DCF2C55-67D1-48CC-836E-B28E4AAC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9092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2024 S1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2E9E29C-2575-4267-AC70-37F784E9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5718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F119B9C-55F4-48EE-8D4D-8ADF57B6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9092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125,53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D28DCE6-61E0-4AD9-B20E-17DCFF26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718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3B02BFC-5D2C-4CD6-AAD0-1FCAA606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9092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83,45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6E44774-ABAE-49A4-8FFB-F8CFA0F7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7187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88CB750-0ECC-45D7-AC6E-37F94D5F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9092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104,49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24C4C51-CA2A-4187-8FBF-7607B4FE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718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99C757E-DE56-483B-B336-75B42F01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9092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Completo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F54CC90-B813-4689-AE8C-C6DF46F0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719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04DA377-109F-4144-8062-4BD08649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909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2024 S2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253355D-5E25-494A-91ED-AD5138EF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9719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5E6F558-463D-4347-86BA-1697B0DC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9097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93,22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9DFF079-8685-48DF-8316-02E98A8E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719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082DD4A-2EB7-493C-A6DB-1323460A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9097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82,37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42CD633-B96A-4807-9B41-98DB54B0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9719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14B833D-4366-46D0-82A7-C86B4F78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909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87,79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A58E6EE-2F2C-489F-9A38-F7EE96AD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719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A15D977-4302-4888-80A6-BA1A5A07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9097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Completo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BBC8AE0-6626-4C7B-90DD-6172C695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7197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CE7A02F-2308-4032-B311-98D75F1A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9102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2025 S1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40900F8-687F-4D4D-9016-B0ADFAAD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3719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1113C50-CC23-4607-BF3A-DDAA946F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9102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90,25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E3BCB82-D340-441F-AB68-4DE8BE08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719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0FE7E75-10BC-459B-8C80-091360B3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9102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79,74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31663BE-710B-4943-9C1A-60909647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37197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6DB3299-EB18-4DE1-ADDB-ED2666E6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9102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84,99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1AFC63A-2A9C-42B8-90E9-EF8CE2B1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719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8AC7410-6E91-48A4-8075-60AA648D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9102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Completo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108A6A7-5C26-462C-A387-8BC504AC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720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9E22B59-ED25-4DAA-82E7-A4749511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910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2025 S2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A9EA4F7-F051-432C-B255-ADFEFEC2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7720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BD3BF3D-721E-46BE-B446-2C9701AF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79107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91,01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36C6121-A02A-4DBF-AF81-440D228D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720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48FF274-EEB7-45BF-B84B-914E9404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9107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85,39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63592BF-8511-439F-B3DA-CA71B41B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720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0A664F3-77BE-421B-B843-6297F1CD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910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88,20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4D568F9-F9AD-4DC7-9662-CD9E0AC5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720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22E632E-1B7F-4743-A496-70E9C22B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9107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0251D"/>
                </a:solidFill>
              </a:defRPr>
            </a:pPr>
            <a:r>
              <a:rPr sz="1275" b="0">
                <a:solidFill>
                  <a:srgbClr val="10251D"/>
                </a:solidFill>
              </a:rPr>
              <a:t>Jul–Set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8F368E7-8372-43EF-A8E5-F649E9C1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Agregação semestral SH8</a:t>
            </a:r>
          </a:p>
        </p:txBody>
      </p:sp>
    </p:spTree>
    <p:extLst>
      <p:ext uri="{BB962C8B-B14F-4D97-AF65-F5344CB8AC3E}">
        <p14:creationId xmlns:p14="http://schemas.microsoft.com/office/powerpoint/2010/main" val="21264698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61E8FE4-CE84-471E-B9A9-AAE98249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B9D1E-6A67-47EF-9AF2-AFE0D7EB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D3B"/>
                </a:solidFill>
              </a:defRPr>
            </a:pPr>
            <a:r>
              <a:rPr sz="1050" b="1">
                <a:solidFill>
                  <a:srgbClr val="075D3B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9AA33-6525-4537-B84A-54591B7A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3C2B"/>
                </a:solidFill>
              </a:defRPr>
            </a:pPr>
            <a:r>
              <a:rPr sz="2700" b="1">
                <a:solidFill>
                  <a:srgbClr val="073C2B"/>
                </a:solidFill>
              </a:rPr>
              <a:t>Exportações: resultados por Secção SH — 1 a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B0036-7F98-44E4-BAF8-4191563A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5EC03-0523-44EA-9BBD-580A1D7C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92AEA-C76C-4477-BE76-ADA79000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FBED4-2070-401A-8212-07D632A5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954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Sec.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4561E-BB13-4419-87A4-D6554FAC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9F49C-EB7E-4C03-975C-566EF49C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49542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Grupo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8E5B2-5786-48A5-B3EE-F4F21056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763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3A753A-1D77-4025-9BBB-74852B4F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4954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8A787-1B2C-4108-B31B-FC0F2CBD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763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914C6-1933-4710-A81F-0DF3FC54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954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11AA2F-2383-4B1A-86C4-FA8C3A17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763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7E5361-2814-4E7B-858B-987AEF14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4954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36959A-F855-4457-9EBF-13B8C5F4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763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50204E-8709-4C96-9FFF-33181A9D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4954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2025 Jan–Set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8AE46-5440-4D5F-911B-363E22A1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383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51892A-906A-4766-9F29-E6D73E9B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573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DE82E2-FCD1-407A-B609-9EE94642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3832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857FAA-1479-42E5-9EF3-6AC5F2D3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85737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Animais e produtos animais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9514E4-3471-4279-B1F1-4236C202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383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0627DA-765E-47B0-8A21-231ADE58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8573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A0C4D0-E579-4A7C-9071-B37D3F0C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383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F7B571-204E-4A38-B184-9C2C3E8D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573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99,45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BD8683-ADA9-4330-900E-CAEE5C21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383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D1EB1E-2ACE-4B62-8875-5F77AFAA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573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96,18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4E83F8-3DD2-427F-B5E6-1A48725E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3832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E63081-5ED2-44B5-A5ED-1BF4AE6E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5737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108,39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4E037D-A0A0-422E-80D2-CA79F13B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027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D16FCE-8A8E-42E3-836F-23F4577F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193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II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B10798-CB64-43C9-AE6A-0CDCA973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33C1C1-DE15-42C7-9BE5-7CAD2CE5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1932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Produtos vegetais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68EA1E-DA07-4F16-8218-68ACA445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002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228DE5-7149-490D-A3B9-5C01BDAA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2193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6BA87A-4FC7-4CC0-8F3C-58BEEE7D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002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95604C-32F0-4993-BF1E-C92096F5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193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106,46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22498A-A110-43F8-9AE3-2794978D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02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885BC0-3935-4E68-AD1B-FC396138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2193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130,51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ED362B-0057-484C-BF1A-5118DD24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002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27AD9D-8B25-4600-944E-3BE4E7FD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193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119,86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BF91E8-47EE-49E5-B89F-852F0ECB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8E0EE2-CC8D-4C87-BCF7-452CB01E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812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III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9CC856-AFB6-42FE-9637-0F4103CD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6222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8EF6B3-6732-43AF-A45E-468F5A9F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58127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Gorduras e óleos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17CB27-9AD2-425F-A7F8-243EB815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622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103BE0-E2FB-41E9-A491-651763F3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5812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25BE4E-E690-4E7D-B03D-26E1AE07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622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0C9E5D-85EE-40EF-BA54-10E9684F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812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83,37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0C62DF-D25E-4A41-98CA-6F8BF113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622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FAFCB1D-D310-4626-9E43-6F7335B1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5812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67,30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8FBB3FB-D64D-4683-ADD9-E27B26EE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6222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C6876BC-6882-457E-ACD4-2914B973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8127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102,20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2557E05-E55D-458D-8A21-230CECA5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2417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70E069C-DFDF-485E-82E4-A87AD37A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432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IV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2656725-3011-4648-BBCC-2BC7ABC4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2417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710756E-BEED-4AD9-BD0D-B22EFFA4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4322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Alimentos, bebidas e tabaco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18BC3FE-E5AA-4D18-9B52-F95C6FB3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241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C4338B5-50DD-43A5-A4A8-4EC115DC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9432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020DF3B-B4A5-4E3B-8BF1-9B228DEF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241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85221ED-F6B4-4351-9E82-A6298AEB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432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96,04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9CF91DD-F2CE-41AA-B05A-6627B8AC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241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5733146-B1DA-4D1B-8F51-1BD7FF8D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9432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85,87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FD989FB-451F-4A4B-8C48-A228249F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241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D6A5F9D-C9A6-4987-A040-9542133D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432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94,99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324A43A-B95A-4666-A74C-7339D26B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861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56CAED7-4D93-4449-8095-A6B2F0BE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051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V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E171D1E-2183-4677-A7B3-F712636A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8612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E6A0612-E972-441D-AF62-D57CB8F5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30517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Produtos minerais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68735D9-B237-4D90-A23D-21AF8F8B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861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1E19F69-6899-4099-9D57-07A8C116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3051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B9AEE64-6040-43AD-B652-E51D7EA9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861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52F6DAE-7BF5-443D-B071-1A125155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051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90,28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0B0ECA0-4822-4875-A355-3D7CEA40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9D7F33D-4F73-45C9-A717-222D938A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3051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58,66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923A96B-A483-4B7C-9A3F-C5E84B62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8612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BED4C1E-F40C-425C-A3F0-2333BD18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0517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71,19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CB123B6-C037-4C70-B41F-786C3416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4807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45C00ED-67A6-428B-8DB8-AE90B245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671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VI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3C321AB-1652-43F9-B031-3C8C0325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4807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CB2EAC0-B730-4206-9D5A-D2B949F8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66712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Indústrias químicas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876843A-634E-4D10-8E26-AEAF65CD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480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636C67D-E820-4FD3-AFA5-6AB5CCED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6671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FF61A1F-F6BA-4FAD-BD9E-FAD1A861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480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0966667-6CB7-46EC-BB25-C313B78F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671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83,01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22CD597-1EDB-4785-B2E6-969A3B6C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480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523AE85-137C-4EA5-8909-58345583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6671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80,98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0A99251-8480-4063-8E61-77DDC23E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480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2A2130D-E5DC-4B71-A599-0F92071E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671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94,27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32A9AF2-33E9-4231-B601-955F2A8E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00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817A8C8-1FDD-4CE7-8C2C-94A22567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290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VII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403900B-B974-41EC-878B-FCFC58C2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1002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1434C0B-75D6-426B-B4D1-AC4A9DA7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02907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Plásticos e borracha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81BF1D7-B361-451C-87B3-F3A9FCCA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100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9115179-5E5E-475C-9268-8F11D593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0290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A8EAAFB-F726-4276-BB7E-A511C6D2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100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106A34E-9A5B-40D3-B2F2-4BF6E02C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290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51,86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ED3A0E8-1973-4EBA-999C-86DBB606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100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87C74C5-495C-4738-93AA-ACFAF55D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0290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717A417-E540-4730-8C64-388DFDCB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1002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456BD66-1E59-48A7-BBA3-75AEB049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2907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29,08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81F2655-E813-46FA-B12C-0037CC46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7197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AF79960-11CB-4CC1-831F-964C7CE5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910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VIII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355996F-8081-478C-8831-FB389E1F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7197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AC4BA27-3DA4-4437-A9B6-C2B4BF1A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39102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Peles e couros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1CB1DB0-4F48-491E-AAE6-C95CC60E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719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E9B85AE-AD94-49CE-892D-28045302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3910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AD166D1-6532-4BBA-BBB6-7D1B4F94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719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2A607D8-BF34-40E3-997D-984FBA75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910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2886370-DC49-4D03-83A4-E83E8D3E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719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1C17F09-B1FF-4C8A-8396-A934DEFE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3910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8753264-6FEF-4E81-AE90-84082919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3719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B1BB5A1-4515-4E8C-912F-50ABE472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910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2070FCF-9289-475D-BCEF-07ECE906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339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32C9849-3D31-484C-AD11-8685FFFE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529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IX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6B616BB-BEF1-461C-B874-E764DCF0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3392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A16EC66-1D54-43BB-A42B-D87C9034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5297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Madeira e cortiça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A50B24B-AFBE-4904-A8CF-62186735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339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FCC4996-1409-44CF-B2E5-54CFCE27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7529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9E165F2-E457-496B-9BFF-A1EA038E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339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E246EF8-D3E9-4052-9885-579D7867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529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C6E0AB4-893D-4865-A6CF-14FE0921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339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C82BF24-5EF7-480E-A328-20CA1C28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7529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195,27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824FE85-8216-40D3-B4AB-98856826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73392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C3A6F38-5070-4271-96CA-962DA763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5297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A69DE2F-1E5F-4551-97D0-2DD96A2E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DFED91B-C3A1-497A-860D-50C6BB1F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149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28ADBC5-7FB1-480D-93FE-A4AC793C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9587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2DC7EF6-F34C-4004-9E7F-53196354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1492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Papel e cartão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5EB2E50-C18A-4C85-A7AF-A5CB894B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958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4EEF0D1-2800-4DE5-98C0-F83B5A78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1149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47189A3-E815-43F4-BA41-2CE8CD53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0958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B024475-8739-4CEF-82BA-FCAD8FD0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149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94,05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1554EF4-FAD4-4417-8342-DF58048D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958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0195C30-C7A6-4F42-A34F-0448DEC6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1149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85,23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2A73D1C-1D46-431F-8925-3A4D165C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0958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B5659CA-1205-4C82-ABDA-4A7E666A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1149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142,93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CEAEDE9-1D40-4EE4-B432-AF0C1008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578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65953379-EF82-465F-8453-B67271DC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768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XI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4C1FD4A-B66B-48B1-9648-32A0AB9F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5782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52977CF2-1429-42B4-B1D3-34D768C8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47687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Matérias têxteis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078E668-9143-4C1A-AAC0-AADC9F5E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578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F88575A-173C-4265-B937-48C6B546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4768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15819FA-3CCD-488C-8188-43E727D9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4578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7EE2680-532A-4228-B11B-E9A378AD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768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77,88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BA585E98-11E3-44B6-A396-5BE50C93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578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A7658B7-B137-4944-BD2E-D34BE790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4768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71,52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0C33AFE-2E38-4907-80BF-8E5CD848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45782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EFA18E3B-6E3C-4E20-8F86-334BC6A3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47687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129,83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F7287EF-5FD2-4645-8003-62DE8E50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Resultados por Secção; N/D = cobertura elegível insuficiente</a:t>
            </a:r>
          </a:p>
        </p:txBody>
      </p:sp>
    </p:spTree>
    <p:extLst>
      <p:ext uri="{BB962C8B-B14F-4D97-AF65-F5344CB8AC3E}">
        <p14:creationId xmlns:p14="http://schemas.microsoft.com/office/powerpoint/2010/main" val="30465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AAF28E1-8949-4C45-8643-26B09105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1E782-23B2-48D9-928D-4CFA6A87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D3B"/>
                </a:solidFill>
              </a:defRPr>
            </a:pPr>
            <a:r>
              <a:rPr sz="1050" b="1">
                <a:solidFill>
                  <a:srgbClr val="075D3B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87675-6B2C-4607-8189-54DD3CEF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3C2B"/>
                </a:solidFill>
              </a:defRPr>
            </a:pPr>
            <a:r>
              <a:rPr sz="2700" b="1">
                <a:solidFill>
                  <a:srgbClr val="073C2B"/>
                </a:solidFill>
              </a:rPr>
              <a:t>Exportações: resultados por Secção SH — 12 a 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B0062-8FDF-4261-96F0-54E5C40B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E1C3E-2877-4CAD-9EC9-F5E54901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3641D-D408-43F7-A4BB-D8422A20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89DFF-D24D-402B-808D-757F74E2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95425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Sec.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E8F93-B400-4A8A-9CD5-DC2103B5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AD257-9A5E-4952-95DF-32F1ACE4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495425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Grupo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512DB3-8423-4173-8365-2810DEA8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763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AB3C1-835A-41E4-B838-4CBD6BED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4954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5E0F84-93B5-473D-ACA1-A62B8735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763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EEEC45-C105-44C7-AF65-5E7BC5F5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954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99B70-B4DF-4FDE-ACB6-E1B8B7FF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763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D52686-5A89-4F9E-BEE2-2F1FA4F2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4954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68375A-0A32-4B4B-8726-03022C06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76375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1EB9F7-A310-429D-AD64-5FDA3103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495425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2025 Jan–Set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B460AE-C09C-4B76-8B5C-35E16957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7C3BAF-4942-4304-A6A8-D6314D21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85950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XII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D1DD15-04C2-4971-9D89-191765D1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66900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887023-E5AB-40C4-99DD-5FDE6EFB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885950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Calçado e semelhantes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E548FE-070C-457F-BA4D-0F9E216C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669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66A7AD-13B2-4E25-B9A6-A16A9B2C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8859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95E7E9-A594-4378-BBE7-3CE7D8B7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669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9C85FD-FB42-47DE-8C07-DAE09F88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859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879F19-BD09-4C43-A0B1-C4EC7318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669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06BBBA-0C07-4F3C-9430-DCDB32C4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859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E75225-0ED7-4373-8389-7AAF5777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66900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8F3CA6-2A60-4FA1-B921-BDEEA75A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85950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DAA1DB-5F5A-4944-BBA9-89E2B7B0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57425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68012A-73B3-4C22-99AB-A168CFA3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76475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XIII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7B9FC9-DB8A-49B8-9ED1-9F0532F5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57425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323C65-6382-435E-8579-70F90B12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76475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Pedra, cerâmica e vidro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AE9571-184C-42CB-9236-6EE30C73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574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15301E-C395-4A95-941A-D63111DA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2764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4F3AB3-2487-48B2-8181-A58ABDA0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574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BFBDA0-15E7-41CA-8FA7-C6F0C11E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764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21,32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3CF190-791E-4425-88BA-C44D74EC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574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E2F7B6-9FB1-44A3-9510-5A6CFC80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2764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21,42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4B76E8-77C7-41BF-8AAC-06E126D2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57425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496DAC-7FCF-4C0B-A378-2E4C6249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76475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20,66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58D095-DA58-49E2-87EF-3045E212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2708ED-81B7-439C-BD52-42355A77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67000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XIV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184C4B-9061-4F67-B179-109C2FE1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47950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4A1DFF-D559-40C7-8CCB-7080B61E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667000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Metais e pedras preciosas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AB84C0D-30F5-456F-BF0E-96A0ABFB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4795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31B982-9F15-47F1-A648-35F7C44D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66700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B3004D-BFDF-4A5D-8022-5F7B3EB2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4795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88E488-CD08-4FC2-8B80-DB43A122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700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5745762-5E7A-41C2-A905-3D35C6BB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4795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92B05DB-11B9-462D-AFF8-DC0D3D68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66700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15F6C9F-F09F-4B1E-859B-7279B86C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47950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3B7453A-498F-48A1-A406-50B87F79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67000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6B10A29-3591-487F-A548-6BF4C92F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38475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06DBA2B-126A-4089-A820-B507A267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57525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XV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098BFE4-24E5-4143-AC7E-9E43BBAA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38475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EA3D2C7-5BD0-4B95-BBD3-717262BB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057525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Metais comuns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C59F52A-71E4-43EF-9E97-112A08EC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384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4419480-BBCF-4024-9F22-3CD7BECF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0575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0869053-4E31-4D06-BE8A-9E040513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384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E940580-F4FB-41C0-9FB3-8A4B5B11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575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84,98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15772FE-8B5B-411B-94D3-2BB293F8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384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F0B2A4B-54FC-4222-9317-D5036E79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0575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119,56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3B956F1-CB39-46BF-A274-3A5ACCDF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38475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BBAD49C-BE9D-4A5C-93C8-17DFB063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57525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77,15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A42BD7B-0912-4ABF-B8B3-2287A8B9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2AE4B5D-CB60-447B-A39E-E0470544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48050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XVI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75EB71F-F884-4D83-922D-938B04CA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696193C-F4F0-43DE-BB9D-007B12F0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448050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Máquinas e material eléctrico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E47BE29-DAA4-41F7-BE6A-C7781906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290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D0F7852-ACE5-4A2A-8A59-BA00E1B0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4480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4717163-40A3-4B19-8298-C650817E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290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2388C18-3992-463A-8B12-805BCF8E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480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D2A9965-4002-4B42-93BB-8960A897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F390A84-C2B1-4706-A95B-F94E63EE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4480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A449A6A-AF47-43CB-B796-F7C54B8C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29000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E45B8BB-9084-4C42-8B42-246C3C91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48050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74B6562-C3F6-47EE-A80F-962C9D8E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9525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AB248EE-3B02-4F07-910A-867DFE3C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38575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XVII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53C5D02-333C-4B9D-A569-213BB6AC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9525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2B1D650-11A6-43EE-B4F4-0C91F559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838575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Material de transporte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43CF3E3-F6B7-408B-B85B-265D4538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195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5ABCC88-4B0B-469E-84F1-3177601E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8385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AC1EF3D-9C79-495C-836E-8DDEE8CB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195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743C5DA-80E6-4DC7-8DDD-F8B2EA3E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385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F3BAAE9-E2BA-4026-86E0-773093E7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95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604F4A3-C3A2-411E-840F-5191F37B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8385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CF5DE9D-12FB-4205-AC62-114EED13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19525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B2002BF-B10F-4AF4-BDC8-E84E0798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38575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93CEBFB-D779-4C13-992F-924E7943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3DA2356-6C83-486F-9843-0598988B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29100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XVIII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4022020-A322-43CE-B777-73217E1D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0050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E2495CD-C4E8-4659-905D-B3810FFA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29100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Instrumentos de precisão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BFD6479-40F0-48B2-A997-0038D0B5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1005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1C463A5-D28C-4060-B339-2F8A1972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22910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BA65AF5-16D8-4551-8BCF-71F47983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1005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D5FD99C-1040-4CEA-A99E-2958980E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2910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23AA482-919E-4F18-B33F-F908D95B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1005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570B112-7DDF-4F58-BC76-E1D09A0E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22910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2F75249-E1F2-45EC-BB46-AF827072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210050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C6D81CC-6C02-48E9-BF25-6C06FA42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29100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A0BB593-EDE3-461D-BEF3-B8AF5568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602A7DB-F0BD-4960-80C8-179803D9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19625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XIX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C9B45E0-BDA2-4B96-8905-1100FF35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00575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4C43CD5-A7C9-420A-BF74-127DCAF5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619625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Armas e munições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D44B54C-FC45-4ADA-B173-7F53AA9C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005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EF08651-05CF-43B3-BE14-B5E583F2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6196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D50D628-EBC2-4506-A6F4-C83C70B8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005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D413C5C-7892-455B-B4FB-629F162F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196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204822D-83D0-4958-8A01-4B109AF9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005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7F22315-8FD0-41E8-A27D-DFE32950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6196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A98145A-071F-4075-9757-54EC4AE1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600575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E381A77-2F92-48D7-924A-9FB22219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19625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FC2B649-7531-42BB-AF18-6FBD599B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91100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C8EDB9E-243D-4002-8A13-0C7DDF23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10150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XX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40CD801-D3AF-4FFA-A22E-AFEF91EC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91100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32E1D5E-CB9A-4F2F-AFD4-CAFADDDD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010150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Mercadorias diversas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28BD4E8-7083-4530-98BB-10C879CE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911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CD12D90-7C9A-46F0-A5EC-C5A91DFD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0101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AD7F054-FCEF-4186-932A-AF0E1720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911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4A1F35B-2B70-4B8F-95B8-6031129E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E82574D-5097-4DDD-B573-F5B1CB37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911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6A11EB8-14D2-4278-B029-979F0736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0101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42215E3-7432-461B-B1E4-7D5AD6CA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991100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E741033-77C3-4020-9601-FA5E0297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010150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EAB2D41-2855-4476-A4E5-055EDBC1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CBC3C22-40CF-44F2-A385-2A87F455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00675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XXI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4860B83-5D87-4E5C-A72C-EFC56C17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81625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4D9DA52-2488-4AC5-969E-516674AB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400675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Arte e antiguidades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44A3818-90AC-4B90-817D-DF410461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3816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2A05B35-BDC3-46C8-BD8A-99656B18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4006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E32B633-DB9F-407D-8F00-9044E14C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3816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7E70F3B-9747-428D-9AA3-C7212EA3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006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C9F5B35-68BA-4D5C-8897-3F1AFDD9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816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E8E95CE-D92B-4CB5-B334-DE542878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4006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81BCFE2-255A-4931-A790-906098A5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381625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4EA0A3D-5121-4F71-9889-60A0409C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400675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FE9095A-D7A8-4090-9261-095735FB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Resultados por Secção; N/D = cobertura elegível insuficiente</a:t>
            </a:r>
          </a:p>
        </p:txBody>
      </p:sp>
    </p:spTree>
    <p:extLst>
      <p:ext uri="{BB962C8B-B14F-4D97-AF65-F5344CB8AC3E}">
        <p14:creationId xmlns:p14="http://schemas.microsoft.com/office/powerpoint/2010/main" val="15332068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6924158-AD51-466E-B576-4B4F2275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86108-A673-4CA6-84B0-9D9BF757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D3B"/>
                </a:solidFill>
              </a:defRPr>
            </a:pPr>
            <a:r>
              <a:rPr sz="1050" b="1">
                <a:solidFill>
                  <a:srgbClr val="075D3B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EEE19-00B4-495F-8558-A7B7B19B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3C2B"/>
                </a:solidFill>
              </a:defRPr>
            </a:pPr>
            <a:r>
              <a:rPr sz="2700" b="1">
                <a:solidFill>
                  <a:srgbClr val="073C2B"/>
                </a:solidFill>
              </a:rPr>
              <a:t>Importações: resultados por Secção SH — 1 a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8F975-3317-4618-B315-E2DFC893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2EEBF-4E19-4AD5-8FD3-17507643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D5ABC-576C-4E2C-9A47-AEC422D6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5A111-CB62-4D4E-854A-7374ACCC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954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Sec.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7C764-575D-49CF-9CE8-18D0AE43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6A521-B2B6-4F28-A55D-64DBA0DE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49542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Grupo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125C4-EB0C-48BE-ABE8-263D1A1F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763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CF60F-35F9-4DD0-BCEF-EFD78D52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4954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606FF-5832-4A44-A12D-920ABBC8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763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3F27D-03DA-401A-8A89-D8551DB9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954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974619-A7C6-4F22-A9ED-F5D6F939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763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AB205-859A-4290-8FDC-7800686B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4954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1343AE-D8E6-4257-8E36-CAC444F8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763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CB548-F0EC-41DD-BA7B-9591F3EB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4954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2025 Jan–Set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FA593-DE1A-482C-858A-3B7DD732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383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EBAD9-2C3B-4A74-A109-BD5C67C2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573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CBFF02-ED18-4841-9332-37D866A2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3832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6FFCEE-3F97-45E3-887C-EF9B2597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85737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Animais e produtos animais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3B9CB0-C942-4A1D-ACB7-9C65009D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383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D8D0D0-77A6-4551-B761-0F073B85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8573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8BD1A0-10B4-46ED-A5B2-DCF131D5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383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C97570-A160-4997-8FFB-A688AAEB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573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106,67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934D1B-E90B-4BB7-A23F-6FF06B05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383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4A141F-4329-468A-871E-7CB10A85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573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84,77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01CA39-5E4A-4892-9F40-114CF886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3832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C03429-02EB-4226-B5EB-8601F3BD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5737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85,59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7168AE-B852-407B-957A-FBE76BD9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027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1AC36F-F716-4006-9DA8-5100383E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193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II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D20D64-867D-4DE1-B7F8-38672B48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210B64-20D7-44F9-A2E9-4F77ECBC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1932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Produtos vegetais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F1EE01-8DF7-4AD4-BB68-44E9ABEB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002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3DB93D-9C97-4CF5-BA0C-E7CE6743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2193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D28F76-4526-4951-B9F6-51EE8283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002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54C481-BAD5-41A4-8F2D-B680EEF3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193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78,96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EBD079-2A55-4510-8671-7299E599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02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6EDA8A-2316-4D66-969C-331CB450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2193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88,73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7218F6-6D92-41BE-B47F-6252F29E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002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1E4316-BC67-46D8-A3E9-3EA00E59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193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87,33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21BB07-DF47-4558-83E0-7AC74380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C9D12C-1E98-449B-954F-40C637FD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812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III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B59D00-2EFB-45AD-A7AD-3777D9A1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6222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8A16CE-A543-49B0-85EA-076E6F04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58127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Gorduras e óleos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5686C3-F5BD-49AB-8132-7673C1BC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622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4BF43AE-A2CE-46DA-98B2-3BD619B7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5812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3E46C64-C35E-4E3C-8D14-123B083E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622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08C677-9A6D-4A22-85A8-107D936D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812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87,87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EAA9CE1-F93E-4C4B-BA7A-9260E235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622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A793F4A-732C-44FB-8692-A159832D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5812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95,62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0D4327F-3121-442B-A61D-A76D1676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6222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5A2E584-E3B8-402F-A2BD-F293635D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8127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89,87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AB88131-3E00-426E-A0EA-7DFA8E9A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2417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019D119-70DA-4197-87A7-E363C604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432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IV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3BCCFF5-AD8A-4B04-AD08-A6FAB0BB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2417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A875DFF-BF27-424C-9C34-EBD77CB8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4322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Alimentos, bebidas e tabaco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4FD6CFB-1608-4696-9C77-3C54126A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241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EEAD3A3-7671-4CDE-80C5-09D720EA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9432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14925F5-B0E8-4FE7-9E2A-30A585F0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241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B6E96EA-2FED-48D6-8D27-C0C00744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432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82,84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EA5B960-CCBD-4E77-B0E4-B2B323E6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241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F68A2EC-D97A-4F75-A29A-6547273F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9432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85,00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E64892A-53CA-4B19-87A1-8C6422BA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241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9A76104-E992-4F3B-AEEB-C2D1BAB4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432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74,03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DEA973A-FD10-4763-9A81-9F6B2C4C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861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ED3A92D-FB04-4C85-954C-5FD46A4D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051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V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2DB2665-1C5B-4EB4-A5BE-224F10D2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8612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69A9B0F-9F71-4FFE-9CD8-C04A0DF6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30517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Produtos minerais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03F536A-8C88-4242-B95D-EF5A699E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861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21D5650-DA4A-4510-8C27-81DABFA3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3051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DE94B28-3355-4D01-A09A-819E6336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861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BC69AA9-BC4C-4CE0-9562-F74879CD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051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92,83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515615C-7D2A-443E-BF57-F9C2902F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A4E3DAB-E3F0-42BF-A4D9-1933DFA1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3051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77,08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7B9863F-BB82-4A64-9003-4FB3382E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8612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C0F93E7-3354-4330-96AA-B61847E9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0517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76,92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2FA7939-8954-4CC4-A4F0-84A614B3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4807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AF528A6-B9E3-4389-85C3-8BC169C9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671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VI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7BB696C-7E31-4951-9E98-AE037737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4807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0887B34-0513-42D7-90B2-0557C2CF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66712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Indústrias químicas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2CBCA19-6C12-430F-8650-0C521D41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480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E9F3912-A7EE-4DF5-A2CF-D062E4CF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6671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46AA316-7F82-4894-B989-3B0DC84C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480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7C7730E-3657-43B4-AED5-D114EB43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671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86,54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46B1C85-4991-4680-ADA2-51038197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480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20B87A2-54AF-4DED-95BB-3651FE16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6671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83,02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1368D39-1262-477B-B6BC-CD5FF22E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480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3758726-199D-47BC-95C3-6B31511A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671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79,17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9147EA3-668F-42F3-841C-634E421B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00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49021C4-0EF2-4CB1-8EFB-BEFE8F8F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290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VII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F3DD7DE-D5F0-4069-8F49-06568CFC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1002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969C51A-9FC0-4F42-9614-EBF78E1D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02907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Plásticos e borracha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9AEF5E0-3C76-4DDE-ACBF-41D33371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100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74638D2-0F75-4E0A-A1D1-E8B9873B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0290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09842E1-3649-4E59-83F0-07318C2E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100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B2C28B4-F5D5-4349-87AE-A9C5F4FD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290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79,39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B703802-1978-4048-98B7-BF291429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100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2837262-8E41-4596-A673-6A0EDF54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0290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74,52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AA3B33F-64B0-4E9C-A87B-BD5A0DE5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1002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8BD129F-23B1-4B1E-8F47-BE3AAAC3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2907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67,62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73AD00C-EB09-48C3-9E04-DF5A7C17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7197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5FDDA3F-6514-42B8-9BB5-82DB4496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910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VIII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0C63095-2A2A-4BF7-9FE6-A41E9579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7197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E45B33F-76E5-47FD-B205-5DCB15F9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39102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Peles e couros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7B54A6B-B29C-49DD-9575-9540B9A0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719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6458550-00FD-41F3-BB22-F5C74589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3910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4679586-1367-4435-9D2C-C5406037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719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1E6A3D7-FA96-4DE0-9F31-537E7906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910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C250997-FCAB-40B1-9F9F-0E7D2103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719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88A9749-65AB-43F1-9C98-8BBBFBEC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3910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2F61766-C873-4BCD-B5D8-A7C0A49E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3719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D0181E6-FBC6-43AE-B340-38A6F13C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910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7A4447C-6E29-41C1-8970-62101D12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339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E33969F-FC7F-4929-990A-BFD384E1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529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IX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3404C26-69B6-4025-88EE-AFA2F157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3392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A586B10-06E6-4B45-9DBA-E71DA09C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5297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Madeira e cortiça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8634F28-D9A9-41B0-A5BC-53BC72ED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339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F0C5D44-4EDA-4552-9B4A-6F819C60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7529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9298089-42E7-4F1E-81F9-487D45C0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339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C23BAD3-87E9-4112-8506-72A95247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529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487F321-A219-4E34-8521-8D5B0EE0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339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F02001C-1D33-421D-A46D-381C2FCA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7529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40,69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803A95A-6A44-4EFD-9B78-3897B992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73392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B581264-7BDA-4023-A4C5-72E30D4A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5297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45,57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0305622-4EBB-4D43-8B64-3F6736A3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E9FB4AA-FA94-4EE2-B6D8-C6952093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149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13228E7-4E64-4AF2-A033-00D87C6C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9587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96CBD00-3C96-4893-9EE2-1AEF7661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1492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Papel e cartão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6611C05-2C67-4696-A142-93FFE289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958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C6A26C2-1F1C-42BE-9EC0-56AF3292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1149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8AC092B-A128-4259-9977-A990FA84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0958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59C8038-4525-4FAB-8F1A-DA979B68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149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88,56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F4BD188-4C12-4A3C-8684-A9B02D0D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958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1EF4D1C-B770-46BB-9986-9E2AA27E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1149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117,97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712094C-79FB-4F89-AEEA-91F6FACA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0958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E938013-5F98-43A6-8C6B-389EF135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1149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66,27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A6E8109-3D78-4631-8C91-FD1B7C12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578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51958F7-CD15-4D73-B889-5F987CC9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768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XI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F11B9F69-3489-4981-84DF-29228745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57825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F39A8AF-FFC0-4F7F-ADA6-0DBB8BDF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47687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Matérias têxteis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75E76BC-1286-48D3-8CB3-FCD8A353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578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8B6B292-8C28-4EB3-8CAF-D4AB8BD9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4768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9507B19-1319-40CB-8256-41E8D334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4578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8F4D0B7-7A9B-48CD-B947-8AC72645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768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109,85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732D46A-2FB4-492F-B3AF-2B6C7E63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5782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6878CF3-D2EB-4DF1-9499-89A83F8B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47687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45,62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40B9F61-0E82-4C6C-9CDB-C9AC03C4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45782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1E4BFA34-20F4-4349-9D11-FC30B682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47687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57,23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24DAEFC-F6D9-4D42-B3BC-F0D4544A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Resultados por Secção; N/D = cobertura elegível insuficiente</a:t>
            </a:r>
          </a:p>
        </p:txBody>
      </p:sp>
    </p:spTree>
    <p:extLst>
      <p:ext uri="{BB962C8B-B14F-4D97-AF65-F5344CB8AC3E}">
        <p14:creationId xmlns:p14="http://schemas.microsoft.com/office/powerpoint/2010/main" val="18678339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E28A795-FBDA-429E-8E89-D283E8C3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DA641-DF39-46D2-B39F-F69F7208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D3B"/>
                </a:solidFill>
              </a:defRPr>
            </a:pPr>
            <a:r>
              <a:rPr sz="1050" b="1">
                <a:solidFill>
                  <a:srgbClr val="075D3B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FAFFE-97A5-4D39-B017-BBB34FE9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3C2B"/>
                </a:solidFill>
              </a:defRPr>
            </a:pPr>
            <a:r>
              <a:rPr sz="2700" b="1">
                <a:solidFill>
                  <a:srgbClr val="073C2B"/>
                </a:solidFill>
              </a:rPr>
              <a:t>Importações: resultados por Secção SH — 12 a 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4D01A-C5A5-4028-B8BE-AF4C938E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B33C5-984A-4BB9-AF90-06DF500A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3E934-E56A-4328-9AB1-428D1B77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F5974-D264-445A-B57D-AF238D95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95425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Sec.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BA8511-D728-4E67-9F1E-C46D7F9D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17763-7788-4B71-955E-D7A68B48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495425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Grupo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6CA3C-7C47-4850-8263-E04BA5F6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763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97EAE-37F6-4F09-BF04-3FE7E248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4954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521931-95A1-4E28-8B6C-90EFACAF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763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FDE2B-D005-441D-A218-C816E67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954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0A06BB-FF2C-4EFB-B410-83FDCDD0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763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716321-40F8-42F2-B06C-1D9A6989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4954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11ED97-DC69-4EC3-9B86-ACE7DE0A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76375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CD8CC-B421-403F-A490-F41EA4EC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495425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2025 Jan–Set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7AD8C0-7F88-439C-89BC-7E842CA1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438018-17F9-4B9C-9E14-F13D4963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85950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XII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DF6BBB-9931-4C77-846C-A7EDCB47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66900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15A731-1E27-4250-97D2-536976A3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885950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Calçado e semelhantes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E60FD1-6F3D-4145-ADEB-704512F7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669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850A67-6BE3-498E-B910-9D9128BB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8859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CB5F7D-0577-474B-8F08-0ABD4AA4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669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8B2D43-53AD-4244-A8F1-F8351F69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859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984434-B468-4DA1-8FE9-D1C1DF97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669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263230-5A50-480B-84E5-0AE999FC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859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22816B-D26B-4232-BF65-98109C04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66900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2DD812-7FC9-44D8-85F9-2365DB71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85950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52C82E-AFC1-4423-B63E-A7E1AC3D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57425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31FDC5-45EC-4FC1-8004-390A0A5B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76475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XIII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530926-F254-4E70-8EC5-B179E092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57425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C7D549-A063-4AEC-A2DA-A60FE631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76475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Pedra, cerâmica e vidro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B868CB-7DF0-4FCA-8FBE-66A61F41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574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FFA303-FD25-4805-82F9-36A66F1C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2764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347376-9A2A-4CFE-A896-31929B69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574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FA6F90-628C-46AE-8575-7932C012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764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113,86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B807CF-0429-491A-AB60-98BF63D9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574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A65677-FEBB-4C46-89E3-C82F8869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2764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111,77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879871-A977-49E3-807D-44CD4CA8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57425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268BE8-A20E-441C-BECF-A73C9C58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76475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99,74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38FEF1-42C4-4C45-838C-ED73EC86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30E5D1-4F3E-43EB-9DB0-3C401B85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67000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XIV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640D3F-E1D5-46F5-AFF2-BD182011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47950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CD78C4-19A4-4E48-8C9F-B2A77B5E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667000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Metais e pedras preciosas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6CB2B5-6E51-4264-8769-95C37D6A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4795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64FCA2-D832-4714-96AC-23C3D1E0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66700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5E1449-9036-4308-94D7-17EFC84A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4795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04C785-D787-4815-99A4-766CC59E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700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81,30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AB352C-C9EC-4AF4-9609-9EA551C0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4795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9068D01-DB31-4B0A-9978-796493D8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66700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87,93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011A37A-769A-4C6B-AAB3-467C8F8D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47950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6D8A7AF-7D4A-402C-B83B-1AA5AB90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67000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147,88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A3DBB84-C478-4438-9305-BD0BF39D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38475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60B3E1D-77C6-475B-9169-A27CF370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57525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XV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72F986C-DE16-4C3E-88FA-20077E24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38475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CC7CDC6-7E9E-4162-8835-31A22009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057525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Metais comuns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73253E8-3CB2-4D88-9446-9E269168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384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590D8C8-EBCF-4548-8E37-0465182B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0575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B0D4114-5E5D-4ED9-9CFD-D8345477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384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F6FECC4-0713-4CBF-B7D6-8E0D0AFE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575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82,45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D9A718E-CC64-49B9-9CE5-70AD373A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384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F8B6EBC-8D2C-47C7-A393-730E50AC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0575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80,25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A5EB649-0703-42FC-B9EE-CF95747B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38475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81E9B0D-D796-4EDD-8CBA-41C5A727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57525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64,34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B4A10BD-267E-44F1-A175-9E74FF64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A3F046E-3C09-4BB6-96DF-452CDBFA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48050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XVI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0CD925F-5A6B-414D-BB37-7F30785F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63F0D58-52CB-415B-9C8A-DE06D9BE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448050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Máquinas e material eléctrico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7E4E0DF-A759-411A-9E99-615D4493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290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A496EA1-77A6-4EAE-B84F-843C0D9A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4480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7753A72-0717-4633-ADE7-864F6905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290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7D8BC6E-C0B2-4E83-B666-E68587AE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480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85,55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D3274A8-C7F9-4C9C-A431-378CCF38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2A3EA2C-640F-4923-8EEF-CED9C0C2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4480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68,46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A30AF1D-361E-41FB-ACA3-5BB4F767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29000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9A103F0-A57D-45BA-BA10-790A4CC2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48050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89,93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EF917DC-8773-4259-845C-F9F56176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9525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2E67F7B-1AC6-4782-AED9-C1902406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38575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XVII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315E7B1-F631-4DEA-B2F4-0693C0E4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9525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616445A-3C7E-4BAA-8390-21097C10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838575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Material de transporte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547E245-89D1-4389-B595-A4174EAF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195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D31E2A2-85AD-4F11-9646-F54F0663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8385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053C14A-F42A-4009-B540-6D77CAC3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195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D559947-6343-4523-B249-F4408BAD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385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99,54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36D8717-854B-4355-83CC-5A5F088E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95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40127CA-FF5B-4EFC-8DE1-D13023B6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8385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73,67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5994792-4450-4CE4-B274-1265F3C0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19525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732D90D-34F9-4E12-AC8E-94FBD964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38575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24,93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52E676D-BED6-4CC8-9219-67D9F66C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559D636-7F3F-47E6-924F-9B775E5B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29100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XVIII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BCF231B-BB0D-4490-9F9F-2BA34493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0050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B0A7BC8-48F4-4AE6-8EE3-96AB1CF4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29100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Instrumentos de precisão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2B32EC2-B43E-4EB9-8A02-66B2A0FE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1005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661368F-5DFC-46D0-B04F-004E847D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22910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4A28048-AC72-427C-9061-43DA059C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1005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89B7844-48A9-470C-963C-B85C4722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2910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2C36038-8A68-4391-AF1A-0E51744A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1005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FB5C64C-6B2F-4476-95BE-1533D8A4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22910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C21BECC-DE5C-45B7-8A6F-14FE8A45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210050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012EB84-5641-46BC-83D0-1D1BFD02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29100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44403BF-0DDC-45B2-A2ED-226C1C9D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4921C10-3A2E-4CC7-85F2-3E6091CC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19625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XIX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788D340-D463-4386-BDDA-2C26701F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00575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E2383F6-D489-4DF2-8F4E-BD6995EA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619625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Armas e munições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0B1C38A-9501-4B14-BAA9-379C847F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005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C473955-D151-48BE-AC30-D00E913D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6196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2F64193-25D9-4CA7-8DAF-A60EBB4A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005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320ED60-F50B-4698-8DBE-F22E38FA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196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20FF0D1-FC81-4569-946F-A49115E3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0057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2D6288B-0CBE-4815-B329-1136EE6D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61962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2F05AA0-5A1F-4A74-B15C-96E028A7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600575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3F7A4E7-60BD-43B8-A8F1-D055F3FA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19625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C9C2190-E51E-489B-9453-1575776E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91100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AF9CD8B-6BC1-424C-A517-794A50B6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10150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XX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9118890-9E3D-4616-B671-1F989B31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91100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2FBF364-6B9D-4D8D-8A2B-188AB3CC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010150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Mercadorias diversas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1A3785F-7406-4169-BBC3-853B9A24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911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D85BBC7-BD95-41B5-9387-EC6E7003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0101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100,00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86F4941-3C2A-4E58-9F5B-9481A8B2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911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CA45BEF-E8AC-43ED-BADA-D3772998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60,21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711B944-D122-4F5B-B903-DDAAF2EB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91100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C5831F5-E1B3-4456-9CEC-3BA780A7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010150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101,57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ECC4E37-B3CB-4391-BEB1-18E5B0E9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991100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F135034-6E79-48BA-B442-5FFBD3C3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010150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71,96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A16031C-4876-4203-B40C-1423E41D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666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4F66515-9880-4A1B-B1D2-9C0A4FD7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00675"/>
            <a:ext cx="53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XXI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EC2AB30-4548-48E1-97F0-03723785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81625"/>
            <a:ext cx="3810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753DEBF-6493-4D6E-9B6D-9D7CFFE1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400675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Arte e antiguidades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0E49070-9692-49AA-B39F-24DF99D5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3816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B0A7298-4332-4E05-83FF-55571D30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4006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0E91089-0BD5-4FFB-8CB4-A3F47136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3816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A419F1F-7FE3-4038-899B-D8B636CD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006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4C7F8E8-2723-44DD-9777-CA821DB9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81625"/>
            <a:ext cx="1381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7409A56-5FF6-4D1C-B8E4-2BB8C299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400675"/>
            <a:ext cx="12477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ACE3379-C21F-4969-904B-C3442A50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381625"/>
            <a:ext cx="1714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A759923-5E8A-41DB-8981-6C0611D7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400675"/>
            <a:ext cx="158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51D"/>
                </a:solidFill>
              </a:defRPr>
            </a:pPr>
            <a:r>
              <a:rPr sz="1125" b="0">
                <a:solidFill>
                  <a:srgbClr val="10251D"/>
                </a:solidFill>
              </a:rPr>
              <a:t>N/D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2B58975-FA99-4E11-B7DB-B83AC5E1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Resultados por Secção; N/D = cobertura elegível insuficiente</a:t>
            </a:r>
          </a:p>
        </p:txBody>
      </p:sp>
    </p:spTree>
    <p:extLst>
      <p:ext uri="{BB962C8B-B14F-4D97-AF65-F5344CB8AC3E}">
        <p14:creationId xmlns:p14="http://schemas.microsoft.com/office/powerpoint/2010/main" val="20894206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C1A2C3-4BD6-41C1-A33D-33C613A3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949EA-E7FF-4F79-8EFC-B6C763F2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D3B"/>
                </a:solidFill>
              </a:defRPr>
            </a:pPr>
            <a:r>
              <a:rPr sz="1050" b="1">
                <a:solidFill>
                  <a:srgbClr val="075D3B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E6CE6-1167-4D5B-8A18-4E57C535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3C2B"/>
                </a:solidFill>
              </a:defRPr>
            </a:pPr>
            <a:r>
              <a:rPr sz="2700" b="1">
                <a:solidFill>
                  <a:srgbClr val="073C2B"/>
                </a:solidFill>
              </a:rPr>
              <a:t>A previsão indicativa aponta para um Global de 82,50 em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83DD2-DEFC-4E0D-BEFF-75F0941D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86610-A38A-4842-ABF9-C797C450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6CF37-E20D-4EBA-B049-EC6ECEA1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E895C-FB3C-4A8D-B5BF-9EFB213D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92405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Índice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3B75D-6DA1-4054-A95B-F41ADF4B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050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4264F-C88C-4EC1-9392-FC2B5F78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9240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Inferior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4A469-F246-4851-81FD-5BF81268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050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9B6C6-5E45-4AEE-800D-31716B0C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240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Central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B1F9F4-8EA0-4F84-B96B-3C0C573D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56E5E3-43A0-4E9E-9F30-C4E43D3D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9240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Superior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6D77C-4AF5-405C-A58C-2826751A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30132B-CB75-4310-92FC-50F9D630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9555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51D"/>
                </a:solidFill>
              </a:defRPr>
            </a:pPr>
            <a:r>
              <a:rPr sz="1575" b="0">
                <a:solidFill>
                  <a:srgbClr val="10251D"/>
                </a:solidFill>
              </a:rPr>
              <a:t>Exportações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D84B98-2020-4F5E-B012-4B2C2715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765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8993F-35CD-4269-88DC-F883C427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4955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51D"/>
                </a:solidFill>
              </a:defRPr>
            </a:pPr>
            <a:r>
              <a:rPr sz="1575" b="0">
                <a:solidFill>
                  <a:srgbClr val="10251D"/>
                </a:solidFill>
              </a:rPr>
              <a:t>85,62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D67500-2886-49FD-85CE-AAF3D98C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765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8537C3-8C86-4A5E-BD63-CE2DE3D1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4955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0251D"/>
                </a:solidFill>
              </a:defRPr>
            </a:pPr>
            <a:r>
              <a:rPr sz="1575" b="0">
                <a:solidFill>
                  <a:srgbClr val="10251D"/>
                </a:solidFill>
              </a:rPr>
              <a:t>93,56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83309B-433C-4B26-8B94-72045CAB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CFF903-E46F-47BE-8A0D-84CCA549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955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0251D"/>
                </a:solidFill>
              </a:defRPr>
            </a:pPr>
            <a:r>
              <a:rPr sz="1575" b="0">
                <a:solidFill>
                  <a:srgbClr val="10251D"/>
                </a:solidFill>
              </a:rPr>
              <a:t>101,50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208812-BCB6-49E8-923C-D3407DD8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F91386-2551-4EC3-B0F0-DC55A306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06705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51D"/>
                </a:solidFill>
              </a:defRPr>
            </a:pPr>
            <a:r>
              <a:rPr sz="1575" b="0">
                <a:solidFill>
                  <a:srgbClr val="10251D"/>
                </a:solidFill>
              </a:rPr>
              <a:t>Importações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01CC7D-4420-4899-AB0F-EF3CAF73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480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CD2D45-8A8A-427C-BA36-907D87FC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0670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51D"/>
                </a:solidFill>
              </a:defRPr>
            </a:pPr>
            <a:r>
              <a:rPr sz="1575" b="0">
                <a:solidFill>
                  <a:srgbClr val="10251D"/>
                </a:solidFill>
              </a:rPr>
              <a:t>69,37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51B6DA-6C83-4A08-9506-8D88FC31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480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CE8E15-BA39-43CC-925C-5C91C6DC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0670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0251D"/>
                </a:solidFill>
              </a:defRPr>
            </a:pPr>
            <a:r>
              <a:rPr sz="1575" b="0">
                <a:solidFill>
                  <a:srgbClr val="10251D"/>
                </a:solidFill>
              </a:rPr>
              <a:t>71,44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2C5B85-98FB-48D0-BC21-D45E3AE4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7B0BB8-2F48-480E-B67F-EF2B827D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0670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0251D"/>
                </a:solidFill>
              </a:defRPr>
            </a:pPr>
            <a:r>
              <a:rPr sz="1575" b="0">
                <a:solidFill>
                  <a:srgbClr val="10251D"/>
                </a:solidFill>
              </a:rPr>
              <a:t>73,51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20BE46-0B6B-45DE-9E50-1ABE888B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D3B6CF-82E2-48A6-80AB-C50C4C4A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3855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51D"/>
                </a:solidFill>
              </a:defRPr>
            </a:pPr>
            <a:r>
              <a:rPr sz="1575" b="0">
                <a:solidFill>
                  <a:srgbClr val="10251D"/>
                </a:solidFill>
              </a:rPr>
              <a:t>Global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A6B1ED-1A57-4433-A8B7-B0AFD04E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195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A9EE56-F4AC-481F-AC92-0069A614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6385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51D"/>
                </a:solidFill>
              </a:defRPr>
            </a:pPr>
            <a:r>
              <a:rPr sz="1575" b="0">
                <a:solidFill>
                  <a:srgbClr val="10251D"/>
                </a:solidFill>
              </a:rPr>
              <a:t>78,91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B989D7-0792-42DA-8D4D-82D4D49C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301894-B73E-4B2A-A908-E35B8CFF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6385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0251D"/>
                </a:solidFill>
              </a:defRPr>
            </a:pPr>
            <a:r>
              <a:rPr sz="1575" b="0">
                <a:solidFill>
                  <a:srgbClr val="10251D"/>
                </a:solidFill>
              </a:rPr>
              <a:t>82,50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6A3814-9C54-4208-A1DA-B280C393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1E885C-2AE4-41D5-A55B-01D40478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6385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0251D"/>
                </a:solidFill>
              </a:defRPr>
            </a:pPr>
            <a:r>
              <a:rPr sz="1575" b="0">
                <a:solidFill>
                  <a:srgbClr val="10251D"/>
                </a:solidFill>
              </a:rPr>
              <a:t>86,08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FF5471-DE74-46E0-817C-0966C6E7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914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F6D403-DBE8-4642-89FC-BE864FF7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0530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3C2B"/>
                </a:solidFill>
              </a:defRPr>
            </a:pPr>
            <a:r>
              <a:rPr sz="1500" b="1">
                <a:solidFill>
                  <a:srgbClr val="073C2B"/>
                </a:solidFill>
              </a:rPr>
              <a:t>Método: tendência linear OLS sobre 2022–2025; intervalo central ± RMSE. A observação de 2025 cobre Janeiro–Setembro e limita a robustez da projecção.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4C6633-2683-46CC-8FDE-B0D15B27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Cenário estatístico de planeamento; não é previsão oficial</a:t>
            </a:r>
          </a:p>
        </p:txBody>
      </p:sp>
    </p:spTree>
    <p:extLst>
      <p:ext uri="{BB962C8B-B14F-4D97-AF65-F5344CB8AC3E}">
        <p14:creationId xmlns:p14="http://schemas.microsoft.com/office/powerpoint/2010/main" val="2424018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172E82-467A-44A8-B3A3-540DB04E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D9F6D-757B-415F-AFC2-DD237058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D3B"/>
                </a:solidFill>
              </a:defRPr>
            </a:pPr>
            <a:r>
              <a:rPr sz="1050" b="1">
                <a:solidFill>
                  <a:srgbClr val="075D3B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29FE3-794C-4639-AC91-40E01A59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3C2B"/>
                </a:solidFill>
              </a:defRPr>
            </a:pPr>
            <a:r>
              <a:rPr sz="2700" b="1">
                <a:solidFill>
                  <a:srgbClr val="073C2B"/>
                </a:solidFill>
              </a:rPr>
              <a:t>Quatro decisões tornam a série publicável e sustentável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7E9AD-B4BF-4154-AACA-4E6B0FF0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9FD46-0F7D-4528-81B0-A81746CC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FB2BA-A1E8-48E6-834F-848C7077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FB321"/>
                </a:solidFill>
              </a:defRPr>
            </a:pPr>
            <a:r>
              <a:rPr sz="2100" b="1">
                <a:solidFill>
                  <a:srgbClr val="EFB321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5A60B-CFCE-406B-BF8D-DB9A9844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192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3C2B"/>
                </a:solidFill>
              </a:defRPr>
            </a:pPr>
            <a:r>
              <a:rPr sz="1800" b="1">
                <a:solidFill>
                  <a:srgbClr val="073C2B"/>
                </a:solidFill>
              </a:rPr>
              <a:t>Completar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0642B-C2FC-436B-917B-B43EDD69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36B"/>
                </a:solidFill>
              </a:defRPr>
            </a:pPr>
            <a:r>
              <a:rPr sz="1500" b="0">
                <a:solidFill>
                  <a:srgbClr val="64736B"/>
                </a:solidFill>
              </a:rPr>
              <a:t>Incorporar Outubro–Dezembro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386FE-F620-4A0A-84B4-58CBDFF0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D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DB644-E0E3-45CB-8ADE-C669EECB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FB321"/>
                </a:solidFill>
              </a:defRPr>
            </a:pPr>
            <a:r>
              <a:rPr sz="2100" b="1">
                <a:solidFill>
                  <a:srgbClr val="EFB321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7A8D2-0F81-4773-981D-B5259A1A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193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3C2B"/>
                </a:solidFill>
              </a:defRPr>
            </a:pPr>
            <a:r>
              <a:rPr sz="1800" b="1">
                <a:solidFill>
                  <a:srgbClr val="073C2B"/>
                </a:solidFill>
              </a:rPr>
              <a:t>Validar unidades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13329-7996-4C89-A144-F2D92CDE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36B"/>
                </a:solidFill>
              </a:defRPr>
            </a:pPr>
            <a:r>
              <a:rPr sz="1500" b="0">
                <a:solidFill>
                  <a:srgbClr val="64736B"/>
                </a:solidFill>
              </a:rPr>
              <a:t>Aprovar equivalências adicionais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2C9B1-C6C3-489D-9C5D-5A4DEE3F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95625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D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B1FA9-05CD-4499-9EF7-3D8458C0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FB321"/>
                </a:solidFill>
              </a:defRPr>
            </a:pPr>
            <a:r>
              <a:rPr sz="2100" b="1">
                <a:solidFill>
                  <a:srgbClr val="EFB321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51D3FA-A56B-4E6D-A7FE-9A5E2C3E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3C2B"/>
                </a:solidFill>
              </a:defRPr>
            </a:pPr>
            <a:r>
              <a:rPr sz="1800" b="1">
                <a:solidFill>
                  <a:srgbClr val="073C2B"/>
                </a:solidFill>
              </a:rPr>
              <a:t>Automatizar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11C0CA-0EB3-4412-B62F-2FDAC2BC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36B"/>
                </a:solidFill>
              </a:defRPr>
            </a:pPr>
            <a:r>
              <a:rPr sz="1500" b="0">
                <a:solidFill>
                  <a:srgbClr val="64736B"/>
                </a:solidFill>
              </a:rPr>
              <a:t>Recalcular cada periodicidade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86A4F3-C7C8-45C2-959B-EC7FF130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95750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D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E4A0C4-2CF9-4D21-B9E6-7AE5D75F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FB321"/>
                </a:solidFill>
              </a:defRPr>
            </a:pPr>
            <a:r>
              <a:rPr sz="2100" b="1">
                <a:solidFill>
                  <a:srgbClr val="EFB321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4AA74F-75C9-451B-B226-C8C41534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196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3C2B"/>
                </a:solidFill>
              </a:defRPr>
            </a:pPr>
            <a:r>
              <a:rPr sz="1800" b="1">
                <a:solidFill>
                  <a:srgbClr val="073C2B"/>
                </a:solidFill>
              </a:rPr>
              <a:t>Publicar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93E41D-32CA-46F5-AE14-4AB14443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196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36B"/>
                </a:solidFill>
              </a:defRPr>
            </a:pPr>
            <a:r>
              <a:rPr sz="1500" b="0">
                <a:solidFill>
                  <a:srgbClr val="64736B"/>
                </a:solidFill>
              </a:rPr>
              <a:t>Dados, metadados e revisões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E58D48-E886-41E9-97D6-0FB89D83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95875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D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F3DC9C-673E-44A1-8CB3-3DE49902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Recomendações do relatório técnico</a:t>
            </a:r>
          </a:p>
        </p:txBody>
      </p:sp>
    </p:spTree>
    <p:extLst>
      <p:ext uri="{BB962C8B-B14F-4D97-AF65-F5344CB8AC3E}">
        <p14:creationId xmlns:p14="http://schemas.microsoft.com/office/powerpoint/2010/main" val="20699381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8EE1FF-EAF8-497E-B92E-3B007899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D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A0A6A-7EFB-4464-A0E5-2BC49808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D3B"/>
                </a:solidFill>
              </a:defRPr>
            </a:pPr>
            <a:r>
              <a:rPr sz="1050" b="1">
                <a:solidFill>
                  <a:srgbClr val="075D3B"/>
                </a:solidFill>
              </a:rPr>
              <a:t>DNCE · ÍNDICES DO COMÉRCIO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235FE-0931-4541-9972-BAB693BD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3C2B"/>
                </a:solidFill>
              </a:defRPr>
            </a:pPr>
            <a:r>
              <a:rPr sz="2700" b="1">
                <a:solidFill>
                  <a:srgbClr val="073C2B"/>
                </a:solidFill>
              </a:rPr>
              <a:t>O portal deve separar claramente fluxo, periodicidade e fonte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683B1-9CEF-49FC-BE35-A4EA5B18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Base 2022 = 100 · Resultados preliminares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89E67-3243-47CB-BB97-6B86822D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36B"/>
                </a:solidFill>
              </a:defRPr>
            </a:pPr>
            <a:r>
              <a:rPr sz="825" b="1">
                <a:solidFill>
                  <a:srgbClr val="64736B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00A54-E766-483B-B5F1-764F6338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FB321"/>
                </a:solidFill>
              </a:defRPr>
            </a:pPr>
            <a:r>
              <a:rPr sz="1200" b="1">
                <a:solidFill>
                  <a:srgbClr val="EFB321"/>
                </a:solidFill>
              </a:rPr>
              <a:t>3 FILTROS PRINCIPAIS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96AFE-83D3-46B6-B5CF-3FB68E9F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3336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A56F9-0F81-40FD-A574-5D1A6525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3C2B"/>
                </a:solidFill>
              </a:defRPr>
            </a:pPr>
            <a:r>
              <a:rPr sz="1500" b="1">
                <a:solidFill>
                  <a:srgbClr val="073C2B"/>
                </a:solidFill>
              </a:rPr>
              <a:t>Exportações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BFC01-A5D6-4248-A58B-6B454987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336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393084-EE8C-48CA-A51F-EB523702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3C2B"/>
                </a:solidFill>
              </a:defRPr>
            </a:pPr>
            <a:r>
              <a:rPr sz="1500" b="1">
                <a:solidFill>
                  <a:srgbClr val="073C2B"/>
                </a:solidFill>
              </a:rPr>
              <a:t>Importações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85591-114C-47A8-8508-DDBF02B6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52625"/>
            <a:ext cx="23336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075D3B"/>
          </a:solidFill>
          <a:ln xmlns:a="http://schemas.openxmlformats.org/drawingml/2006/main" w="9525">
            <a:solidFill>
              <a:srgbClr val="C9D9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D334DD-9B91-43CA-ABE5-D815AAE1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Global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043FB3-D0BC-4F0F-912C-04D66DA2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FB321"/>
                </a:solidFill>
              </a:defRPr>
            </a:pPr>
            <a:r>
              <a:rPr sz="1200" b="1">
                <a:solidFill>
                  <a:srgbClr val="EFB321"/>
                </a:solidFill>
              </a:rPr>
              <a:t>PERIODICIDADE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5D50D-1BB8-4542-A4D4-FF07CD43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3C2B"/>
                </a:solidFill>
              </a:defRPr>
            </a:pPr>
            <a:r>
              <a:rPr sz="1800" b="1">
                <a:solidFill>
                  <a:srgbClr val="073C2B"/>
                </a:solidFill>
              </a:rPr>
              <a:t>Mensal  ·  Trimestral  ·  Semestral  ·  Anual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0CAEB-D9E3-4239-90ED-02F66258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FB321"/>
                </a:solidFill>
              </a:defRPr>
            </a:pPr>
            <a:r>
              <a:rPr sz="1200" b="1">
                <a:solidFill>
                  <a:srgbClr val="EFB321"/>
                </a:solidFill>
              </a:rPr>
              <a:t>DOWNLOADS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119E5B-2DE7-4A0B-B152-C601BE6E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36B"/>
                </a:solidFill>
              </a:defRPr>
            </a:pPr>
            <a:r>
              <a:rPr sz="1425" b="0">
                <a:solidFill>
                  <a:srgbClr val="64736B"/>
                </a:solidFill>
              </a:rPr>
              <a:t>• Ficheiro de exportações</a:t>
            </a:r>
          </a:p>
          <a:p xmlns:a="http://schemas.openxmlformats.org/drawingml/2006/main">
            <a:pPr algn="l">
              <a:defRPr sz="1425" b="0">
                <a:solidFill>
                  <a:srgbClr val="64736B"/>
                </a:solidFill>
              </a:defRPr>
            </a:pPr>
            <a:r>
              <a:rPr sz="1425" b="0">
                <a:solidFill>
                  <a:srgbClr val="64736B"/>
                </a:solidFill>
              </a:rPr>
              <a:t>• Quatro ficheiros de importações</a:t>
            </a:r>
          </a:p>
          <a:p xmlns:a="http://schemas.openxmlformats.org/drawingml/2006/main">
            <a:pPr algn="l">
              <a:defRPr sz="1425" b="0">
                <a:solidFill>
                  <a:srgbClr val="64736B"/>
                </a:solidFill>
              </a:defRPr>
            </a:pPr>
            <a:r>
              <a:rPr sz="1425" b="0">
                <a:solidFill>
                  <a:srgbClr val="64736B"/>
                </a:solidFill>
              </a:rPr>
              <a:t>• Excel de resultados e metodologia</a:t>
            </a:r>
          </a:p>
          <a:p xmlns:a="http://schemas.openxmlformats.org/drawingml/2006/main">
            <a:pPr algn="l">
              <a:defRPr sz="1425" b="0">
                <a:solidFill>
                  <a:srgbClr val="64736B"/>
                </a:solidFill>
              </a:defRPr>
            </a:pPr>
            <a:r>
              <a:rPr sz="1425" b="0">
                <a:solidFill>
                  <a:srgbClr val="64736B"/>
                </a:solidFill>
              </a:rPr>
              <a:t>• Relatório e apresentação em PDF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61BFA0-B066-46D7-90CF-242EF8E4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66875"/>
            <a:ext cx="285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C2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A40240-8961-4C27-832F-1D7D20F8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478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B321"/>
                </a:solidFill>
              </a:defRPr>
            </a:pPr>
            <a:r>
              <a:rPr sz="1800" b="1">
                <a:solidFill>
                  <a:srgbClr val="EFB321"/>
                </a:solidFill>
              </a:rPr>
              <a:t>RESPONSIVO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47C89A-141C-4888-BE4D-13AD34DA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575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Telemóvel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Tablet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Computador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C9E2AC-B3B6-4584-AC98-0FA732DF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36B"/>
                </a:solidFill>
              </a:defRPr>
            </a:pPr>
            <a:r>
              <a:rPr sz="825" b="0">
                <a:solidFill>
                  <a:srgbClr val="64736B"/>
                </a:solidFill>
              </a:rPr>
              <a:t>Fonte: Especificação funcional para a nova versão do portal</a:t>
            </a:r>
          </a:p>
        </p:txBody>
      </p:sp>
    </p:spTree>
    <p:extLst>
      <p:ext uri="{BB962C8B-B14F-4D97-AF65-F5344CB8AC3E}">
        <p14:creationId xmlns:p14="http://schemas.microsoft.com/office/powerpoint/2010/main" val="34411232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3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C15E7-55A2-4394-BF11-84B3231B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B321"/>
                </a:solidFill>
              </a:defRPr>
            </a:pPr>
            <a:r>
              <a:rPr sz="1350" b="1">
                <a:solidFill>
                  <a:srgbClr val="EFB321"/>
                </a:solidFill>
              </a:rPr>
              <a:t>Próxima etapa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E3A93-AB24-4BBC-BBFE-4109248F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828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Validar os resultados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e publicar a nova série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C102F-105E-419B-960B-2860E7FD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8E1"/>
                </a:solidFill>
              </a:defRPr>
            </a:pPr>
            <a:r>
              <a:rPr sz="1725" b="0">
                <a:solidFill>
                  <a:srgbClr val="D9E8E1"/>
                </a:solidFill>
              </a:rPr>
              <a:t>1. Completar 2025</a:t>
            </a:r>
          </a:p>
          <a:p xmlns:a="http://schemas.openxmlformats.org/drawingml/2006/main">
            <a:pPr algn="l">
              <a:defRPr sz="1725" b="0">
                <a:solidFill>
                  <a:srgbClr val="D9E8E1"/>
                </a:solidFill>
              </a:defRPr>
            </a:pPr>
            <a:r>
              <a:rPr sz="1725" b="0">
                <a:solidFill>
                  <a:srgbClr val="D9E8E1"/>
                </a:solidFill>
              </a:rPr>
              <a:t>2. Homologar metodologia e cabazes</a:t>
            </a:r>
          </a:p>
          <a:p xmlns:a="http://schemas.openxmlformats.org/drawingml/2006/main">
            <a:pPr algn="l">
              <a:defRPr sz="1725" b="0">
                <a:solidFill>
                  <a:srgbClr val="D9E8E1"/>
                </a:solidFill>
              </a:defRPr>
            </a:pPr>
            <a:r>
              <a:rPr sz="1725" b="0">
                <a:solidFill>
                  <a:srgbClr val="D9E8E1"/>
                </a:solidFill>
              </a:rPr>
              <a:t>3. Aprovar a previsão como cenário indicativo</a:t>
            </a:r>
          </a:p>
          <a:p xmlns:a="http://schemas.openxmlformats.org/drawingml/2006/main">
            <a:pPr algn="l">
              <a:defRPr sz="1725" b="0">
                <a:solidFill>
                  <a:srgbClr val="D9E8E1"/>
                </a:solidFill>
              </a:defRPr>
            </a:pPr>
            <a:r>
              <a:rPr sz="1725" b="0">
                <a:solidFill>
                  <a:srgbClr val="D9E8E1"/>
                </a:solidFill>
              </a:rPr>
              <a:t>4. Publicar portal, fontes e documentos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26B05-832C-4F8E-A236-AD1B2B87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FB321"/>
                </a:solidFill>
              </a:defRPr>
            </a:pPr>
            <a:r>
              <a:rPr sz="1050" b="1">
                <a:solidFill>
                  <a:srgbClr val="EFB321"/>
                </a:solidFill>
              </a:rPr>
              <a:t>DNCE · MINISTÉRIO DA ECONOMIA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3B375-0DA9-4880-95D1-08EE198B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FB321"/>
                </a:solidFill>
              </a:defRPr>
            </a:pPr>
            <a:r>
              <a:rPr sz="1050" b="1">
                <a:solidFill>
                  <a:srgbClr val="EFB321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741047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2026-08-10T04:54:18.0760000Z</dcterms:created>
  <dcterms:modified xsi:type="dcterms:W3CDTF">2026-08-10T04:54:18.0760000Z</dcterms:modified>
</coreProperties>
</file>